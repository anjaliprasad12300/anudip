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317" r:id="rId7"/>
    <p:sldId id="318" r:id="rId8"/>
    <p:sldId id="319" r:id="rId9"/>
    <p:sldId id="320" r:id="rId10"/>
    <p:sldId id="304" r:id="rId11"/>
    <p:sldId id="305" r:id="rId12"/>
    <p:sldId id="306" r:id="rId13"/>
    <p:sldId id="307" r:id="rId14"/>
    <p:sldId id="316" r:id="rId15"/>
    <p:sldId id="308" r:id="rId16"/>
    <p:sldId id="309" r:id="rId17"/>
    <p:sldId id="311" r:id="rId18"/>
    <p:sldId id="293" r:id="rId19"/>
    <p:sldId id="301" r:id="rId20"/>
    <p:sldId id="294" r:id="rId21"/>
    <p:sldId id="295" r:id="rId22"/>
    <p:sldId id="296" r:id="rId23"/>
    <p:sldId id="299" r:id="rId24"/>
    <p:sldId id="300"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14-01-2026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504CCD6-5134-4457-A597-09B42912618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3196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7540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81E905-2720-4FFE-A897-C6790173FF0F}"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805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81E905-2720-4FFE-A897-C6790173FF0F}"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4448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81E905-2720-4FFE-A897-C6790173FF0F}" type="datetimeFigureOut">
              <a:rPr lang="en-IN" smtClean="0"/>
              <a:t>14-01-2026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04CCD6-5134-4457-A597-09B42912618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2691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81E905-2720-4FFE-A897-C6790173FF0F}" type="datetimeFigureOut">
              <a:rPr lang="en-IN" smtClean="0"/>
              <a:t>14-01-2026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04CCD6-5134-4457-A597-09B42912618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7040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81E905-2720-4FFE-A897-C6790173FF0F}" type="datetimeFigureOut">
              <a:rPr lang="en-IN" smtClean="0"/>
              <a:t>14-01-2026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322363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81E905-2720-4FFE-A897-C6790173FF0F}" type="datetimeFigureOut">
              <a:rPr lang="en-IN" smtClean="0"/>
              <a:t>14-01-2026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2470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A81E905-2720-4FFE-A897-C6790173FF0F}" type="datetimeFigureOut">
              <a:rPr lang="en-IN" smtClean="0"/>
              <a:t>14-01-2026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8226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383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420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A81E905-2720-4FFE-A897-C6790173FF0F}" type="datetimeFigureOut">
              <a:rPr lang="en-IN" smtClean="0"/>
              <a:t>14-01-2026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504CCD6-5134-4457-A597-09B42912618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9301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search?q=Communication+%26+Collaboration&amp;rlz=1C1RXQR_enIN1065IN1065&amp;oq=key+roles+of+it+in+modern+business&amp;gs_lcrp=EgZjaHJvbWUyBggAEEUYOTIICAEQABgWGB4yCAgCEAAYFhgeMggIAxAAGBYYHjIICAQQABgWGB4yCAgFEAAYFhgeMggIBhAAGBYYHjIICAcQABgWGB4yCAgIEAAYFhgeMgoICRAAGAoYFhge0gEJNzcxNWowajE1qAIIsAIB8QVUNHmEldguqPEFVDR5hJXYLqg&amp;sourceid=chrome&amp;ie=UTF-8&amp;mstk=AUtExfD7LCSrTZGM3v6HiDRUJDvoxXApb8GGxHAa_EtYX44awkJTElQz_JbAqSeVbaJyqjFdLECOstFHpcXaWctMSeZgHGcEa6tsio8vwTyNJMfKedaiLLfnz9mYurQZWHFwKTBmlhKpyM2gWp0yYe1jdCK_Nnw7PPwSKUiMgdGElnioazk&amp;csui=3&amp;ved=2ahUKEwiYlt_Z9oiSAxXaSWwGHQNxIjwQgK4QegQIBRAD" TargetMode="External"/><Relationship Id="rId2" Type="http://schemas.openxmlformats.org/officeDocument/2006/relationships/hyperlink" Target="https://www.google.com/search?q=Operational+Efficiency&amp;rlz=1C1RXQR_enIN1065IN1065&amp;oq=key+roles+of+it+in+modern+business&amp;gs_lcrp=EgZjaHJvbWUyBggAEEUYOTIICAEQABgWGB4yCAgCEAAYFhgeMggIAxAAGBYYHjIICAQQABgWGB4yCAgFEAAYFhgeMggIBhAAGBYYHjIICAcQABgWGB4yCAgIEAAYFhgeMgoICRAAGAoYFhge0gEJNzcxNWowajE1qAIIsAIB8QVUNHmEldguqPEFVDR5hJXYLqg&amp;sourceid=chrome&amp;ie=UTF-8&amp;mstk=AUtExfD7LCSrTZGM3v6HiDRUJDvoxXApb8GGxHAa_EtYX44awkJTElQz_JbAqSeVbaJyqjFdLECOstFHpcXaWctMSeZgHGcEa6tsio8vwTyNJMfKedaiLLfnz9mYurQZWHFwKTBmlhKpyM2gWp0yYe1jdCK_Nnw7PPwSKUiMgdGElnioazk&amp;csui=3&amp;ved=2ahUKEwiYlt_Z9oiSAxXaSWwGHQNxIjwQgK4QegQIBRAB" TargetMode="External"/><Relationship Id="rId1" Type="http://schemas.openxmlformats.org/officeDocument/2006/relationships/slideLayout" Target="../slideLayouts/slideLayout2.xml"/><Relationship Id="rId4" Type="http://schemas.openxmlformats.org/officeDocument/2006/relationships/hyperlink" Target="https://www.google.com/search?q=Data+Management+%26+Analytics&amp;rlz=1C1RXQR_enIN1065IN1065&amp;oq=key+roles+of+it+in+modern+business&amp;gs_lcrp=EgZjaHJvbWUyBggAEEUYOTIICAEQABgWGB4yCAgCEAAYFhgeMggIAxAAGBYYHjIICAQQABgWGB4yCAgFEAAYFhgeMggIBhAAGBYYHjIICAcQABgWGB4yCAgIEAAYFhgeMgoICRAAGAoYFhge0gEJNzcxNWowajE1qAIIsAIB8QVUNHmEldguqPEFVDR5hJXYLqg&amp;sourceid=chrome&amp;ie=UTF-8&amp;mstk=AUtExfD7LCSrTZGM3v6HiDRUJDvoxXApb8GGxHAa_EtYX44awkJTElQz_JbAqSeVbaJyqjFdLECOstFHpcXaWctMSeZgHGcEa6tsio8vwTyNJMfKedaiLLfnz9mYurQZWHFwKTBmlhKpyM2gWp0yYe1jdCK_Nnw7PPwSKUiMgdGElnioazk&amp;csui=3&amp;ved=2ahUKEwiYlt_Z9oiSAxXaSWwGHQNxIjwQgK4QegQIBRA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q=Marketing&amp;sca_esv=f8e88fa85c482734&amp;rlz=1C1RXQR_enIN1065IN1065&amp;sxsrf=ANbL-n4wTkCY9U_B4wn9mTsY-MPYu6CEZA%3A1768321551544&amp;ei=D3Jmaa3qIPLjseMP_9u3qQU&amp;ved=2ahUKEwjk4L7i_4iSAxUxSWwGHXUHD0YQgK4QegYIAQgAEBs&amp;uact=5&amp;oq=application+of+it+in+business&amp;gs_lp=Egxnd3Mtd2l6LXNlcnAiHWFwcGxpY2F0aW9uIG9mIGl0IGluIGJ1c2luZXNzMgUQABiABDIGEAAYFhgeMgYQABgWGB4yBhAAGBYYHjIGEAAYFhgeMgYQABgWGB4yBhAAGBYYHjIGEAAYFhgeMgYQABgWGB4yBhAAGBYYHkjqbFDjCVjtWXABeAGQAQCYAdcCoAGFL6oBCDAuMTYuOS4zuAEDyAEA-AEBmAIdoALTMKgCEMICBxAjGCcY6gLCAhcQABiABBiRAhi0AhjnBhiKBRjqAtgBAcICCxAAGIAEGJECGIoFwgIQEAAYgAQYsQMYQxiDARiKBcICERAuGIAEGLEDGNEDGIMBGMcBwgIKEAAYgAQYQxiKBcICDhAuGIAEGLEDGIMBGIoFwgIIEAAYgAQYsQPCAgsQLhiABBixAxiDAcICExAuGIAEGLEDGNEDGEMYxwEYigXCAg0QLhiABBhDGOUEGIoFwgIOEAAYgAQYkQIYsQMYigWYAwrxBZpHmv_iRbe1ugYGCAEQARgBkgcJMS4xMy4xMi4zoAeSzQGyBwkwLjEzLjEyLjO4B8gwwgcIMC4yLjI1LjLIB6EBgAgA&amp;sclient=gws-wiz-serp" TargetMode="External"/><Relationship Id="rId2" Type="http://schemas.openxmlformats.org/officeDocument/2006/relationships/hyperlink" Target="https://www.google.com/search?q=Finance&amp;sca_esv=f8e88fa85c482734&amp;rlz=1C1RXQR_enIN1065IN1065&amp;sxsrf=ANbL-n4wTkCY9U_B4wn9mTsY-MPYu6CEZA%3A1768321551544&amp;ei=D3Jmaa3qIPLjseMP_9u3qQU&amp;ved=2ahUKEwjk4L7i_4iSAxUxSWwGHXUHD0YQgK4QegYIAQgAEBk&amp;uact=5&amp;oq=application+of+it+in+business&amp;gs_lp=Egxnd3Mtd2l6LXNlcnAiHWFwcGxpY2F0aW9uIG9mIGl0IGluIGJ1c2luZXNzMgUQABiABDIGEAAYFhgeMgYQABgWGB4yBhAAGBYYHjIGEAAYFhgeMgYQABgWGB4yBhAAGBYYHjIGEAAYFhgeMgYQABgWGB4yBhAAGBYYHkjqbFDjCVjtWXABeAGQAQCYAdcCoAGFL6oBCDAuMTYuOS4zuAEDyAEA-AEBmAIdoALTMKgCEMICBxAjGCcY6gLCAhcQABiABBiRAhi0AhjnBhiKBRjqAtgBAcICCxAAGIAEGJECGIoFwgIQEAAYgAQYsQMYQxiDARiKBcICERAuGIAEGLEDGNEDGIMBGMcBwgIKEAAYgAQYQxiKBcICDhAuGIAEGLEDGIMBGIoFwgIIEAAYgAQYsQPCAgsQLhiABBixAxiDAcICExAuGIAEGLEDGNEDGEMYxwEYigXCAg0QLhiABBhDGOUEGIoFwgIOEAAYgAQYkQIYsQMYigWYAwrxBZpHmv_iRbe1ugYGCAEQARgBkgcJMS4xMy4xMi4zoAeSzQGyBwkwLjEzLjEyLjO4B8gwwgcIMC4yLjI1LjLIB6EBgAgA&amp;sclient=gws-wiz-serp" TargetMode="External"/><Relationship Id="rId1" Type="http://schemas.openxmlformats.org/officeDocument/2006/relationships/slideLayout" Target="../slideLayouts/slideLayout2.xml"/><Relationship Id="rId4" Type="http://schemas.openxmlformats.org/officeDocument/2006/relationships/hyperlink" Target="https://www.google.com/search?q=Human+Resources&amp;sca_esv=f8e88fa85c482734&amp;rlz=1C1RXQR_enIN1065IN1065&amp;sxsrf=ANbL-n4wTkCY9U_B4wn9mTsY-MPYu6CEZA%3A1768321551544&amp;ei=D3Jmaa3qIPLjseMP_9u3qQU&amp;ved=2ahUKEwjk4L7i_4iSAxUxSWwGHXUHD0YQgK4QegYIAQgAEB8&amp;uact=5&amp;oq=application+of+it+in+business&amp;gs_lp=Egxnd3Mtd2l6LXNlcnAiHWFwcGxpY2F0aW9uIG9mIGl0IGluIGJ1c2luZXNzMgUQABiABDIGEAAYFhgeMgYQABgWGB4yBhAAGBYYHjIGEAAYFhgeMgYQABgWGB4yBhAAGBYYHjIGEAAYFhgeMgYQABgWGB4yBhAAGBYYHkjqbFDjCVjtWXABeAGQAQCYAdcCoAGFL6oBCDAuMTYuOS4zuAEDyAEA-AEBmAIdoALTMKgCEMICBxAjGCcY6gLCAhcQABiABBiRAhi0AhjnBhiKBRjqAtgBAcICCxAAGIAEGJECGIoFwgIQEAAYgAQYsQMYQxiDARiKBcICERAuGIAEGLEDGNEDGIMBGMcBwgIKEAAYgAQYQxiKBcICDhAuGIAEGLEDGIMBGIoFwgIIEAAYgAQYsQPCAgsQLhiABBixAxiDAcICExAuGIAEGLEDGNEDGEMYxwEYigXCAg0QLhiABBhDGOUEGIoFwgIOEAAYgAQYkQIYsQMYigWYAwrxBZpHmv_iRbe1ugYGCAEQARgBkgcJMS4xMy4xMi4zoAeSzQGyBwkwLjEzLjEyLjO4B8gwwgcIMC4yLjI1LjLIB6EBgAgA&amp;sclient=gws-wiz-serp"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google.com/search?q=Skillshare&amp;sca_esv=f8e88fa85c482734&amp;rlz=1C1RXQR_enIN1065IN1065&amp;sxsrf=ANbL-n6Zh4hn94cYNKkVffkQxNenDGObvg%3A1768323873228&amp;ei=IXtmaaTMDbGSseMP9Y68sAQ&amp;ved=2ahUKEwjHk_DOgImSAxWwRmwGHVESBVwQgK4QegQIAxAB&amp;uact=5&amp;oq=it+in+education+and+society&amp;gs_lp=Egxnd3Mtd2l6LXNlcnAiG2l0IGluIGVkdWNhdGlvbiBhbmQgc29jaWV0eTIFECEYoAEyBRAhGKABMgUQIRigATIFECEYoAEyBRAhGJ8FMgUQIRifBTIFECEYnwVI_qYEUPALWLebAXABeAGQAQCYAZUCoAHMKaoBBjAuMTguObgBA8gBAPgBAZgCHKAC3yuoAhDCAgcQIxgnGOoCwgIXEAAYgAQYkQIYtAIY5wYYigUY6gLYAQHCAgQQIxgnwgIKECMYgAQYJxiKBcICCxAAGIAEGJECGIoFwgILEAAYgAQYsQMYgwHCAg4QABiABBixAxiDARiKBcICBRAAGIAEwgIOEC4YgAQYsQMY0QMYxwHCAggQABiABBixA8ICDRAuGIAEGLEDGEMYigXCAgoQABiABBhDGIoFwgIQEAAYgAQYsQMYQxiDARiKBcICChAuGIAEGEMYigXCAggQLhiABBixA8ICDhAAGIAEGJECGLEDGIoFwgIEEAAYA8ICDRAAGIAEGLEDGEMYigXCAgoQABiABBgCGMsBwgIKEAAYgAQYFBiHAsICBhAAGBYYHsICCxAAGIAEGIYDGIoFwgIIEAAYgAQYogTCAggQABiiBBiJBZgDEPEFprBhNy5HPDS6BgYIARABGAGSBwcxLjE0LjEzoAfNuQGyBwcwLjE0LjEzuAfPK8IHCDItMjIuNS4xyAfZAYAIAA&amp;sclient=gws-wiz-serp&amp;mstk=AUtExfAC9c5sU7R5p0bXZlkJszceUm3Ra--WRaHmOV_10xhopXOgEGVKFcdWlhRCV5kNFJJiHVHOZuYUaNfNADoWxQJC2il9gtAxf_MGQsrgP2yi_7WoUmEmcO-mkw2hu5HlywlwR2LKTJJ3xpBRDjef6DuAWznlGAdDEXDJDQrQC4bTWg4UmIqtuiWqIpa0DlFviNNmAtUYVs3DuPUIsceNPghkZvAXkRBJ3frp_xSpg27lJ7CldNOi5ci146ihC5uAXziX2La-aMQn-HZL6ihfColb&amp;csui=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m/search?q=Automated+Workflows&amp;rlz=1C1RXQR_enIN1065IN1065&amp;sca_esv=f8e88fa85c482734&amp;sxsrf=ANbL-n73D_oH5V-YQRcNSSP2BT_IZcCV7g%3A1768325311123&amp;ei=v4BmaZqbB-ihseMP6KO4uQQ&amp;ved=2ahUKEwiO__2YhYmSAxXoWnADHZdhDgwQgK4QegQIAxAE&amp;uact=5&amp;oq=how+enterprise+resource+planning+platforms+works+in+paragraph&amp;gs_lp=Egxnd3Mtd2l6LXNlcnAiPWhvdyBlbnRlcnByaXNlIHJlc291cmNlIHBsYW5uaW5nIHBsYXRmb3JtcyB3b3JrcyBpbiBwYXJhZ3JhcGhIpiBQngdY_xtwAXgBkAEAmAHIAqABnxiqAQcwLjQuNy4yuAEDyAEA-AEBmAIMoALhFcICChAAGLADGNYEGEfCAgYQABgWGB7CAggQABiABBiiBMICBRAAGO8FwgIHECEYoAEYCsICBRAhGJ8FwgILEAAYgAQYhgMYigWYAwCIBgGQBgiSBwcxLjEuOC4yoAfdV7IHBzAuMS44LjK4B90VwgcGMC4yLjEwyAcygAgA&amp;sclient=gws-wiz-serp&amp;mstk=AUtExfB95wAF1o7wueEgiAUHWVMt3N0uB4jyPo0vb7ComROdBRcYYkFWyXMNUexdAKk-uzsfBr4dnl5__C7IGcxnXpV9tLoY3eYM5uCQCKgCPkaYfCq94hATxObq3O1VWHzwZj9vJwVIqHehoBzhFNIvELMOwtKHeZ34UYQhGRgtAC6SawG6ta51YHj_JEQwn9pIUqSA3PlWULmn96nYYds41hnQ3qxMFbzpYLbuSg7EtyrpQjurV_y-Z4KLWzVlRH23N2y4CtRd-XuFNFQooeN6yUOR&amp;csui=3" TargetMode="External"/><Relationship Id="rId2" Type="http://schemas.openxmlformats.org/officeDocument/2006/relationships/hyperlink" Target="https://www.google.com/search?q=Modular+Architecture&amp;rlz=1C1RXQR_enIN1065IN1065&amp;sca_esv=f8e88fa85c482734&amp;sxsrf=ANbL-n73D_oH5V-YQRcNSSP2BT_IZcCV7g%3A1768325311123&amp;ei=v4BmaZqbB-ihseMP6KO4uQQ&amp;ved=2ahUKEwiO__2YhYmSAxXoWnADHZdhDgwQgK4QegQIAxAC&amp;uact=5&amp;oq=how+enterprise+resource+planning+platforms+works+in+paragraph&amp;gs_lp=Egxnd3Mtd2l6LXNlcnAiPWhvdyBlbnRlcnByaXNlIHJlc291cmNlIHBsYW5uaW5nIHBsYXRmb3JtcyB3b3JrcyBpbiBwYXJhZ3JhcGhIpiBQngdY_xtwAXgBkAEAmAHIAqABnxiqAQcwLjQuNy4yuAEDyAEA-AEBmAIMoALhFcICChAAGLADGNYEGEfCAgYQABgWGB7CAggQABiABBiiBMICBRAAGO8FwgIHECEYoAEYCsICBRAhGJ8FwgILEAAYgAQYhgMYigWYAwCIBgGQBgiSBwcxLjEuOC4yoAfdV7IHBzAuMS44LjK4B90VwgcGMC4yLjEwyAcygAgA&amp;sclient=gws-wiz-serp&amp;mstk=AUtExfB95wAF1o7wueEgiAUHWVMt3N0uB4jyPo0vb7ComROdBRcYYkFWyXMNUexdAKk-uzsfBr4dnl5__C7IGcxnXpV9tLoY3eYM5uCQCKgCPkaYfCq94hATxObq3O1VWHzwZj9vJwVIqHehoBzhFNIvELMOwtKHeZ34UYQhGRgtAC6SawG6ta51YHj_JEQwn9pIUqSA3PlWULmn96nYYds41hnQ3qxMFbzpYLbuSg7EtyrpQjurV_y-Z4KLWzVlRH23N2y4CtRd-XuFNFQooeN6yUOR&amp;csui=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0CCA1DE-153B-2CC5-DA50-D12A382A1EC5}"/>
              </a:ext>
            </a:extLst>
          </p:cNvPr>
          <p:cNvSpPr>
            <a:spLocks noGrp="1"/>
          </p:cNvSpPr>
          <p:nvPr>
            <p:ph type="ctrTitle"/>
          </p:nvPr>
        </p:nvSpPr>
        <p:spPr>
          <a:xfrm>
            <a:off x="235974" y="882376"/>
            <a:ext cx="11739716" cy="2444420"/>
          </a:xfrm>
        </p:spPr>
        <p:txBody>
          <a:bodyPr>
            <a:normAutofit/>
          </a:bodyPr>
          <a:lstStyle/>
          <a:p>
            <a:r>
              <a:rPr lang="en-US" sz="6600" dirty="0"/>
              <a:t>INFORMATION TECHNOLOGY</a:t>
            </a:r>
            <a:endParaRPr lang="en-IN" sz="6600" dirty="0"/>
          </a:p>
        </p:txBody>
      </p:sp>
      <p:sp>
        <p:nvSpPr>
          <p:cNvPr id="8" name="Subtitle 7">
            <a:extLst>
              <a:ext uri="{FF2B5EF4-FFF2-40B4-BE49-F238E27FC236}">
                <a16:creationId xmlns:a16="http://schemas.microsoft.com/office/drawing/2014/main" id="{1F0C4E3B-C20B-B2AD-E6CD-EF8D67000DD1}"/>
              </a:ext>
            </a:extLst>
          </p:cNvPr>
          <p:cNvSpPr>
            <a:spLocks noGrp="1"/>
          </p:cNvSpPr>
          <p:nvPr>
            <p:ph type="subTitle" idx="1"/>
          </p:nvPr>
        </p:nvSpPr>
        <p:spPr/>
        <p:txBody>
          <a:bodyPr/>
          <a:lstStyle/>
          <a:p>
            <a:r>
              <a:rPr lang="en-US" dirty="0"/>
              <a:t>By Anjali Prasad</a:t>
            </a:r>
            <a:endParaRPr lang="en-IN" dirty="0"/>
          </a:p>
        </p:txBody>
      </p:sp>
    </p:spTree>
    <p:extLst>
      <p:ext uri="{BB962C8B-B14F-4D97-AF65-F5344CB8AC3E}">
        <p14:creationId xmlns:p14="http://schemas.microsoft.com/office/powerpoint/2010/main" val="1198340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7BD422-C48D-99ED-1720-203DA77F0267}"/>
              </a:ext>
            </a:extLst>
          </p:cNvPr>
          <p:cNvSpPr>
            <a:spLocks noGrp="1"/>
          </p:cNvSpPr>
          <p:nvPr>
            <p:ph type="title"/>
          </p:nvPr>
        </p:nvSpPr>
        <p:spPr/>
        <p:txBody>
          <a:bodyPr/>
          <a:lstStyle/>
          <a:p>
            <a:r>
              <a:rPr lang="en-US" dirty="0"/>
              <a:t>What is Information Technology ?</a:t>
            </a:r>
            <a:endParaRPr lang="en-IN" dirty="0"/>
          </a:p>
        </p:txBody>
      </p:sp>
      <p:sp>
        <p:nvSpPr>
          <p:cNvPr id="7" name="Content Placeholder 6">
            <a:extLst>
              <a:ext uri="{FF2B5EF4-FFF2-40B4-BE49-F238E27FC236}">
                <a16:creationId xmlns:a16="http://schemas.microsoft.com/office/drawing/2014/main" id="{5BE530A4-2DCC-7CCC-BC73-B3D1F5B8A3E5}"/>
              </a:ext>
            </a:extLst>
          </p:cNvPr>
          <p:cNvSpPr>
            <a:spLocks noGrp="1"/>
          </p:cNvSpPr>
          <p:nvPr>
            <p:ph idx="1"/>
          </p:nvPr>
        </p:nvSpPr>
        <p:spPr/>
        <p:txBody>
          <a:bodyPr anchor="ctr"/>
          <a:lstStyle/>
          <a:p>
            <a:pPr marL="285750" indent="-285750">
              <a:buFont typeface="Arial" panose="020B0604020202020204" pitchFamily="34" charset="0"/>
              <a:buChar char="•"/>
            </a:pPr>
            <a:r>
              <a:rPr lang="en-US" dirty="0"/>
              <a:t>Information Technology (IT) refers to the use of computers, software, networks, and data.</a:t>
            </a:r>
          </a:p>
          <a:p>
            <a:pPr marL="285750" indent="-285750">
              <a:buFont typeface="Arial" panose="020B0604020202020204" pitchFamily="34" charset="0"/>
              <a:buChar char="•"/>
            </a:pPr>
            <a:r>
              <a:rPr lang="en-US" dirty="0"/>
              <a:t>IT helps in storing, processing, and sharing information.</a:t>
            </a:r>
          </a:p>
          <a:p>
            <a:pPr marL="285750" indent="-285750">
              <a:buFont typeface="Arial" panose="020B0604020202020204" pitchFamily="34" charset="0"/>
              <a:buChar char="•"/>
            </a:pPr>
            <a:r>
              <a:rPr lang="en-US" dirty="0"/>
              <a:t>Key components: hardware, software, networks, databases.</a:t>
            </a:r>
          </a:p>
        </p:txBody>
      </p:sp>
    </p:spTree>
    <p:extLst>
      <p:ext uri="{BB962C8B-B14F-4D97-AF65-F5344CB8AC3E}">
        <p14:creationId xmlns:p14="http://schemas.microsoft.com/office/powerpoint/2010/main" val="384469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AA72-236C-24A1-8EAB-0C4C64E486F1}"/>
              </a:ext>
            </a:extLst>
          </p:cNvPr>
          <p:cNvSpPr>
            <a:spLocks noGrp="1"/>
          </p:cNvSpPr>
          <p:nvPr>
            <p:ph type="title"/>
          </p:nvPr>
        </p:nvSpPr>
        <p:spPr/>
        <p:txBody>
          <a:bodyPr/>
          <a:lstStyle/>
          <a:p>
            <a:r>
              <a:rPr lang="en-US" dirty="0"/>
              <a:t>Role of IT in Business Operations</a:t>
            </a:r>
            <a:endParaRPr lang="en-IN" dirty="0"/>
          </a:p>
        </p:txBody>
      </p:sp>
      <p:sp>
        <p:nvSpPr>
          <p:cNvPr id="3" name="Content Placeholder 2">
            <a:extLst>
              <a:ext uri="{FF2B5EF4-FFF2-40B4-BE49-F238E27FC236}">
                <a16:creationId xmlns:a16="http://schemas.microsoft.com/office/drawing/2014/main" id="{13D5D0D8-99B2-3C27-5530-D4C37BED106A}"/>
              </a:ext>
            </a:extLst>
          </p:cNvPr>
          <p:cNvSpPr>
            <a:spLocks noGrp="1"/>
          </p:cNvSpPr>
          <p:nvPr>
            <p:ph idx="1"/>
          </p:nvPr>
        </p:nvSpPr>
        <p:spPr/>
        <p:txBody>
          <a:bodyPr anchor="ctr"/>
          <a:lstStyle/>
          <a:p>
            <a:r>
              <a:rPr lang="en-IN" dirty="0"/>
              <a:t>Automates routine business tasks.</a:t>
            </a:r>
          </a:p>
          <a:p>
            <a:r>
              <a:rPr lang="en-IN" dirty="0"/>
              <a:t>Improves efficiency and productivity.</a:t>
            </a:r>
          </a:p>
          <a:p>
            <a:r>
              <a:rPr lang="en-IN" dirty="0"/>
              <a:t>Reduces operational cost.</a:t>
            </a:r>
          </a:p>
          <a:p>
            <a:r>
              <a:rPr lang="en-IN" dirty="0"/>
              <a:t>Enables faster communication and collaboration.</a:t>
            </a:r>
          </a:p>
        </p:txBody>
      </p:sp>
    </p:spTree>
    <p:extLst>
      <p:ext uri="{BB962C8B-B14F-4D97-AF65-F5344CB8AC3E}">
        <p14:creationId xmlns:p14="http://schemas.microsoft.com/office/powerpoint/2010/main" val="803458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F206-4B64-5317-644A-D43E56A5AD9D}"/>
              </a:ext>
            </a:extLst>
          </p:cNvPr>
          <p:cNvSpPr>
            <a:spLocks noGrp="1"/>
          </p:cNvSpPr>
          <p:nvPr>
            <p:ph type="title"/>
          </p:nvPr>
        </p:nvSpPr>
        <p:spPr/>
        <p:txBody>
          <a:bodyPr/>
          <a:lstStyle/>
          <a:p>
            <a:r>
              <a:rPr lang="en-IN" dirty="0"/>
              <a:t>Overview of Business Systems</a:t>
            </a:r>
          </a:p>
        </p:txBody>
      </p:sp>
      <p:sp>
        <p:nvSpPr>
          <p:cNvPr id="3" name="Content Placeholder 2">
            <a:extLst>
              <a:ext uri="{FF2B5EF4-FFF2-40B4-BE49-F238E27FC236}">
                <a16:creationId xmlns:a16="http://schemas.microsoft.com/office/drawing/2014/main" id="{FA093773-8C40-FFD5-8946-1F9C059B2427}"/>
              </a:ext>
            </a:extLst>
          </p:cNvPr>
          <p:cNvSpPr>
            <a:spLocks noGrp="1"/>
          </p:cNvSpPr>
          <p:nvPr>
            <p:ph idx="1"/>
          </p:nvPr>
        </p:nvSpPr>
        <p:spPr/>
        <p:txBody>
          <a:bodyPr anchor="ctr"/>
          <a:lstStyle/>
          <a:p>
            <a:r>
              <a:rPr lang="en-US" dirty="0"/>
              <a:t>Business systems support organizational processes.</a:t>
            </a:r>
          </a:p>
          <a:p>
            <a:r>
              <a:rPr lang="en-IN" dirty="0"/>
              <a:t>ERP: Manages finance, HR, production.</a:t>
            </a:r>
          </a:p>
          <a:p>
            <a:r>
              <a:rPr lang="en-IN" dirty="0"/>
              <a:t>CRM: Manages customer relationships.</a:t>
            </a:r>
          </a:p>
          <a:p>
            <a:r>
              <a:rPr lang="en-US" dirty="0"/>
              <a:t>SCM: Handles supply chain activities.</a:t>
            </a:r>
            <a:endParaRPr lang="en-IN" dirty="0"/>
          </a:p>
        </p:txBody>
      </p:sp>
    </p:spTree>
    <p:extLst>
      <p:ext uri="{BB962C8B-B14F-4D97-AF65-F5344CB8AC3E}">
        <p14:creationId xmlns:p14="http://schemas.microsoft.com/office/powerpoint/2010/main" val="2786685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8DD0-30F6-9785-9798-647FD91A14F6}"/>
              </a:ext>
            </a:extLst>
          </p:cNvPr>
          <p:cNvSpPr>
            <a:spLocks noGrp="1"/>
          </p:cNvSpPr>
          <p:nvPr>
            <p:ph type="title"/>
          </p:nvPr>
        </p:nvSpPr>
        <p:spPr>
          <a:xfrm>
            <a:off x="1143000" y="609600"/>
            <a:ext cx="10370574" cy="1356360"/>
          </a:xfrm>
        </p:spPr>
        <p:txBody>
          <a:bodyPr/>
          <a:lstStyle/>
          <a:p>
            <a:r>
              <a:rPr lang="en-US" dirty="0"/>
              <a:t>Interplay Between IT and Business Strategy</a:t>
            </a:r>
            <a:endParaRPr lang="en-IN" dirty="0"/>
          </a:p>
        </p:txBody>
      </p:sp>
      <p:sp>
        <p:nvSpPr>
          <p:cNvPr id="3" name="Text Placeholder 2">
            <a:extLst>
              <a:ext uri="{FF2B5EF4-FFF2-40B4-BE49-F238E27FC236}">
                <a16:creationId xmlns:a16="http://schemas.microsoft.com/office/drawing/2014/main" id="{4A83426F-112E-FAEA-A273-A0C8A5A2F5E4}"/>
              </a:ext>
            </a:extLst>
          </p:cNvPr>
          <p:cNvSpPr>
            <a:spLocks noGrp="1"/>
          </p:cNvSpPr>
          <p:nvPr>
            <p:ph type="body" idx="1"/>
          </p:nvPr>
        </p:nvSpPr>
        <p:spPr/>
        <p:txBody>
          <a:bodyPr/>
          <a:lstStyle/>
          <a:p>
            <a:r>
              <a:rPr lang="en-IN" dirty="0"/>
              <a:t>IT </a:t>
            </a:r>
          </a:p>
        </p:txBody>
      </p:sp>
      <p:sp>
        <p:nvSpPr>
          <p:cNvPr id="4" name="Content Placeholder 3">
            <a:extLst>
              <a:ext uri="{FF2B5EF4-FFF2-40B4-BE49-F238E27FC236}">
                <a16:creationId xmlns:a16="http://schemas.microsoft.com/office/drawing/2014/main" id="{C3D6B0E5-988D-7D95-9424-A735B0114BEE}"/>
              </a:ext>
            </a:extLst>
          </p:cNvPr>
          <p:cNvSpPr>
            <a:spLocks noGrp="1"/>
          </p:cNvSpPr>
          <p:nvPr>
            <p:ph sz="half" idx="2"/>
          </p:nvPr>
        </p:nvSpPr>
        <p:spPr/>
        <p:txBody>
          <a:bodyPr/>
          <a:lstStyle/>
          <a:p>
            <a:r>
              <a:rPr lang="en-IN" dirty="0"/>
              <a:t>Focuses on technology support.</a:t>
            </a:r>
          </a:p>
          <a:p>
            <a:r>
              <a:rPr lang="en-IN" dirty="0"/>
              <a:t>System and data oriented.</a:t>
            </a:r>
          </a:p>
          <a:p>
            <a:r>
              <a:rPr lang="en-IN" dirty="0"/>
              <a:t>Driven by IT leadership.</a:t>
            </a:r>
          </a:p>
          <a:p>
            <a:r>
              <a:rPr lang="en-IN" dirty="0"/>
              <a:t>Driven by IT leadership.</a:t>
            </a:r>
          </a:p>
        </p:txBody>
      </p:sp>
      <p:sp>
        <p:nvSpPr>
          <p:cNvPr id="5" name="Text Placeholder 4">
            <a:extLst>
              <a:ext uri="{FF2B5EF4-FFF2-40B4-BE49-F238E27FC236}">
                <a16:creationId xmlns:a16="http://schemas.microsoft.com/office/drawing/2014/main" id="{94F9CA4B-B43E-4CF4-006D-54ABD6587F8D}"/>
              </a:ext>
            </a:extLst>
          </p:cNvPr>
          <p:cNvSpPr>
            <a:spLocks noGrp="1"/>
          </p:cNvSpPr>
          <p:nvPr>
            <p:ph type="body" sz="quarter" idx="3"/>
          </p:nvPr>
        </p:nvSpPr>
        <p:spPr/>
        <p:txBody>
          <a:bodyPr/>
          <a:lstStyle/>
          <a:p>
            <a:r>
              <a:rPr lang="en-US" dirty="0"/>
              <a:t>Business Strategy</a:t>
            </a:r>
            <a:endParaRPr lang="en-IN" dirty="0"/>
          </a:p>
        </p:txBody>
      </p:sp>
      <p:sp>
        <p:nvSpPr>
          <p:cNvPr id="6" name="Content Placeholder 5">
            <a:extLst>
              <a:ext uri="{FF2B5EF4-FFF2-40B4-BE49-F238E27FC236}">
                <a16:creationId xmlns:a16="http://schemas.microsoft.com/office/drawing/2014/main" id="{CA6DDE66-9EC6-CB1D-2EAD-95B89F1F9B34}"/>
              </a:ext>
            </a:extLst>
          </p:cNvPr>
          <p:cNvSpPr>
            <a:spLocks noGrp="1"/>
          </p:cNvSpPr>
          <p:nvPr>
            <p:ph sz="quarter" idx="4"/>
          </p:nvPr>
        </p:nvSpPr>
        <p:spPr/>
        <p:txBody>
          <a:bodyPr/>
          <a:lstStyle/>
          <a:p>
            <a:r>
              <a:rPr lang="en-US" dirty="0"/>
              <a:t>Focuses on goals and vision.</a:t>
            </a:r>
          </a:p>
          <a:p>
            <a:r>
              <a:rPr lang="en-IN" dirty="0"/>
              <a:t>Market and customer oriented.</a:t>
            </a:r>
          </a:p>
          <a:p>
            <a:r>
              <a:rPr lang="en-IN" dirty="0"/>
              <a:t>Driven by management.</a:t>
            </a:r>
          </a:p>
          <a:p>
            <a:r>
              <a:rPr lang="en-IN" dirty="0"/>
              <a:t>Long-term growth.</a:t>
            </a:r>
          </a:p>
        </p:txBody>
      </p:sp>
    </p:spTree>
    <p:extLst>
      <p:ext uri="{BB962C8B-B14F-4D97-AF65-F5344CB8AC3E}">
        <p14:creationId xmlns:p14="http://schemas.microsoft.com/office/powerpoint/2010/main" val="1297289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7BB7B-957B-456B-3DFE-D3E561E44B14}"/>
              </a:ext>
            </a:extLst>
          </p:cNvPr>
          <p:cNvSpPr>
            <a:spLocks noGrp="1"/>
          </p:cNvSpPr>
          <p:nvPr>
            <p:ph type="title"/>
          </p:nvPr>
        </p:nvSpPr>
        <p:spPr/>
        <p:txBody>
          <a:bodyPr/>
          <a:lstStyle/>
          <a:p>
            <a:r>
              <a:rPr lang="en-US" dirty="0"/>
              <a:t>Key Roles of IT in modern business</a:t>
            </a:r>
            <a:endParaRPr lang="en-IN" dirty="0"/>
          </a:p>
        </p:txBody>
      </p:sp>
      <p:sp>
        <p:nvSpPr>
          <p:cNvPr id="3" name="Content Placeholder 2">
            <a:extLst>
              <a:ext uri="{FF2B5EF4-FFF2-40B4-BE49-F238E27FC236}">
                <a16:creationId xmlns:a16="http://schemas.microsoft.com/office/drawing/2014/main" id="{B3B002C4-D432-BD99-358F-B4C58728F459}"/>
              </a:ext>
            </a:extLst>
          </p:cNvPr>
          <p:cNvSpPr>
            <a:spLocks noGrp="1"/>
          </p:cNvSpPr>
          <p:nvPr>
            <p:ph idx="1"/>
          </p:nvPr>
        </p:nvSpPr>
        <p:spPr/>
        <p:txBody>
          <a:bodyPr>
            <a:noAutofit/>
          </a:bodyPr>
          <a:lstStyle/>
          <a:p>
            <a:r>
              <a:rPr lang="en-IN" b="1" dirty="0">
                <a:hlinkClick r:id="rId2"/>
              </a:rPr>
              <a:t>Operational Efficiency</a:t>
            </a:r>
            <a:r>
              <a:rPr lang="en-IN" dirty="0"/>
              <a:t>: Automates repetitive tasks (data entry, backups), reducing errors and freeing staff for strategic work.</a:t>
            </a:r>
          </a:p>
          <a:p>
            <a:r>
              <a:rPr lang="en-IN" b="1" dirty="0">
                <a:hlinkClick r:id="rId3"/>
              </a:rPr>
              <a:t>Communication &amp; Collaboration</a:t>
            </a:r>
            <a:r>
              <a:rPr lang="en-IN" dirty="0"/>
              <a:t>: Facilitates real-time global teamwork via email, messaging (Slack, Teams), video conferencing (Zoom, Meet), and cloud platforms (Google Workspace, M365).</a:t>
            </a:r>
          </a:p>
          <a:p>
            <a:r>
              <a:rPr lang="en-IN" b="1" dirty="0">
                <a:hlinkClick r:id="rId4"/>
              </a:rPr>
              <a:t>Data Management &amp; Analytics</a:t>
            </a:r>
            <a:r>
              <a:rPr lang="en-IN" dirty="0"/>
              <a:t>: Gathers, stores, and </a:t>
            </a:r>
            <a:r>
              <a:rPr lang="en-IN" dirty="0" err="1"/>
              <a:t>analyzes</a:t>
            </a:r>
            <a:r>
              <a:rPr lang="en-IN" dirty="0"/>
              <a:t> vast amounts of data for insights, trend forecasting, and informed decision-making.</a:t>
            </a:r>
          </a:p>
        </p:txBody>
      </p:sp>
    </p:spTree>
    <p:extLst>
      <p:ext uri="{BB962C8B-B14F-4D97-AF65-F5344CB8AC3E}">
        <p14:creationId xmlns:p14="http://schemas.microsoft.com/office/powerpoint/2010/main" val="264786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3B983-ED99-2B7F-CF30-65081CCEE222}"/>
              </a:ext>
            </a:extLst>
          </p:cNvPr>
          <p:cNvSpPr>
            <a:spLocks noGrp="1"/>
          </p:cNvSpPr>
          <p:nvPr>
            <p:ph type="title"/>
          </p:nvPr>
        </p:nvSpPr>
        <p:spPr/>
        <p:txBody>
          <a:bodyPr/>
          <a:lstStyle/>
          <a:p>
            <a:r>
              <a:rPr lang="en-US" dirty="0"/>
              <a:t>Emerging IT Technologies</a:t>
            </a:r>
            <a:endParaRPr lang="en-IN" dirty="0"/>
          </a:p>
        </p:txBody>
      </p:sp>
      <p:sp>
        <p:nvSpPr>
          <p:cNvPr id="3" name="Content Placeholder 2">
            <a:extLst>
              <a:ext uri="{FF2B5EF4-FFF2-40B4-BE49-F238E27FC236}">
                <a16:creationId xmlns:a16="http://schemas.microsoft.com/office/drawing/2014/main" id="{586A86CC-BCD9-115D-0354-76385793F8D0}"/>
              </a:ext>
            </a:extLst>
          </p:cNvPr>
          <p:cNvSpPr>
            <a:spLocks noGrp="1"/>
          </p:cNvSpPr>
          <p:nvPr>
            <p:ph idx="1"/>
          </p:nvPr>
        </p:nvSpPr>
        <p:spPr/>
        <p:txBody>
          <a:bodyPr/>
          <a:lstStyle/>
          <a:p>
            <a:r>
              <a:rPr lang="en-IN" b="1" dirty="0"/>
              <a:t>Artificial Intelligence (AI) &amp; Machine Learning (ML):</a:t>
            </a:r>
            <a:r>
              <a:rPr lang="en-IN" dirty="0"/>
              <a:t> Beyond basic automation, focusing on generative AI, predictive analytics, AI-native platforms, and multi-agent systems for complex decision-making and human-like understanding.</a:t>
            </a:r>
          </a:p>
          <a:p>
            <a:r>
              <a:rPr lang="en-IN" b="1" dirty="0"/>
              <a:t>Quantum Computing:</a:t>
            </a:r>
            <a:r>
              <a:rPr lang="en-IN" dirty="0"/>
              <a:t> Utilizes quantum physics to solve problems intractable for classical computers, promising breakthroughs in research, finance, and AI.</a:t>
            </a:r>
          </a:p>
          <a:p>
            <a:r>
              <a:rPr lang="en-IN" b="1" dirty="0"/>
              <a:t>Blockchain:</a:t>
            </a:r>
            <a:r>
              <a:rPr lang="en-IN" dirty="0"/>
              <a:t> Offers decentralized, secure ledgers for transparent and immutable transactions, impacting finance, supply chains, and data integrity.</a:t>
            </a:r>
          </a:p>
        </p:txBody>
      </p:sp>
    </p:spTree>
    <p:extLst>
      <p:ext uri="{BB962C8B-B14F-4D97-AF65-F5344CB8AC3E}">
        <p14:creationId xmlns:p14="http://schemas.microsoft.com/office/powerpoint/2010/main" val="511301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DD024-42A8-EB12-74F8-59DFC65B4672}"/>
              </a:ext>
            </a:extLst>
          </p:cNvPr>
          <p:cNvSpPr>
            <a:spLocks noGrp="1"/>
          </p:cNvSpPr>
          <p:nvPr>
            <p:ph type="title"/>
          </p:nvPr>
        </p:nvSpPr>
        <p:spPr/>
        <p:txBody>
          <a:bodyPr/>
          <a:lstStyle/>
          <a:p>
            <a:r>
              <a:rPr lang="en-US" dirty="0"/>
              <a:t>Applications of IT in Business</a:t>
            </a:r>
            <a:endParaRPr lang="en-IN" dirty="0"/>
          </a:p>
        </p:txBody>
      </p:sp>
      <p:sp>
        <p:nvSpPr>
          <p:cNvPr id="3" name="Content Placeholder 2">
            <a:extLst>
              <a:ext uri="{FF2B5EF4-FFF2-40B4-BE49-F238E27FC236}">
                <a16:creationId xmlns:a16="http://schemas.microsoft.com/office/drawing/2014/main" id="{3E7B0698-BEED-55B0-130A-6052A2C9EC4B}"/>
              </a:ext>
            </a:extLst>
          </p:cNvPr>
          <p:cNvSpPr>
            <a:spLocks noGrp="1"/>
          </p:cNvSpPr>
          <p:nvPr>
            <p:ph idx="1"/>
          </p:nvPr>
        </p:nvSpPr>
        <p:spPr/>
        <p:txBody>
          <a:bodyPr/>
          <a:lstStyle/>
          <a:p>
            <a:r>
              <a:rPr lang="en-US" b="1" dirty="0">
                <a:hlinkClick r:id="rId2"/>
              </a:rPr>
              <a:t>Finance</a:t>
            </a:r>
            <a:r>
              <a:rPr lang="en-US" b="1" dirty="0"/>
              <a:t> &amp; Accounting:</a:t>
            </a:r>
            <a:r>
              <a:rPr lang="en-US" dirty="0"/>
              <a:t> Software for budgeting, reporting (Excel, SAP).</a:t>
            </a:r>
          </a:p>
          <a:p>
            <a:r>
              <a:rPr lang="en-US" b="1" dirty="0">
                <a:hlinkClick r:id="rId3"/>
              </a:rPr>
              <a:t>Marketing</a:t>
            </a:r>
            <a:r>
              <a:rPr lang="en-US" b="1" dirty="0"/>
              <a:t> &amp; Sales:</a:t>
            </a:r>
            <a:r>
              <a:rPr lang="en-US" dirty="0"/>
              <a:t> CRM (Customer Relationship Management) systems, social media, email marketing (Mailchimp).</a:t>
            </a:r>
          </a:p>
          <a:p>
            <a:r>
              <a:rPr lang="en-US" b="1" dirty="0">
                <a:hlinkClick r:id="rId4"/>
              </a:rPr>
              <a:t>Human Resources</a:t>
            </a:r>
            <a:r>
              <a:rPr lang="en-US" b="1" dirty="0"/>
              <a:t> (HR):</a:t>
            </a:r>
            <a:r>
              <a:rPr lang="en-US" dirty="0"/>
              <a:t> Managing payroll, employee data, training, and recruitment.</a:t>
            </a:r>
          </a:p>
          <a:p>
            <a:r>
              <a:rPr lang="en-US" b="1" dirty="0"/>
              <a:t>Security:</a:t>
            </a:r>
            <a:r>
              <a:rPr lang="en-US" dirty="0"/>
              <a:t> Network security systems, data protection against cyber threats. </a:t>
            </a:r>
          </a:p>
        </p:txBody>
      </p:sp>
    </p:spTree>
    <p:extLst>
      <p:ext uri="{BB962C8B-B14F-4D97-AF65-F5344CB8AC3E}">
        <p14:creationId xmlns:p14="http://schemas.microsoft.com/office/powerpoint/2010/main" val="3823007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76E8-0F29-E3AF-BA5E-A6FF4F82E028}"/>
              </a:ext>
            </a:extLst>
          </p:cNvPr>
          <p:cNvSpPr>
            <a:spLocks noGrp="1"/>
          </p:cNvSpPr>
          <p:nvPr>
            <p:ph type="title"/>
          </p:nvPr>
        </p:nvSpPr>
        <p:spPr/>
        <p:txBody>
          <a:bodyPr/>
          <a:lstStyle/>
          <a:p>
            <a:r>
              <a:rPr lang="en-US" dirty="0"/>
              <a:t>IT in Education and Society</a:t>
            </a:r>
            <a:endParaRPr lang="en-IN" dirty="0"/>
          </a:p>
        </p:txBody>
      </p:sp>
      <p:sp>
        <p:nvSpPr>
          <p:cNvPr id="3" name="Content Placeholder 2">
            <a:extLst>
              <a:ext uri="{FF2B5EF4-FFF2-40B4-BE49-F238E27FC236}">
                <a16:creationId xmlns:a16="http://schemas.microsoft.com/office/drawing/2014/main" id="{FF06EC6D-8489-87DC-80A7-FA57BC172739}"/>
              </a:ext>
            </a:extLst>
          </p:cNvPr>
          <p:cNvSpPr>
            <a:spLocks noGrp="1"/>
          </p:cNvSpPr>
          <p:nvPr>
            <p:ph idx="1"/>
          </p:nvPr>
        </p:nvSpPr>
        <p:spPr>
          <a:xfrm>
            <a:off x="1451579" y="2015732"/>
            <a:ext cx="9603275" cy="3910506"/>
          </a:xfrm>
        </p:spPr>
        <p:txBody>
          <a:bodyPr>
            <a:normAutofit fontScale="92500"/>
          </a:bodyPr>
          <a:lstStyle/>
          <a:p>
            <a:r>
              <a:rPr lang="en-US" b="1" dirty="0"/>
              <a:t>Enhanced Learning:</a:t>
            </a:r>
            <a:r>
              <a:rPr lang="en-US" dirty="0"/>
              <a:t> Interactive whiteboards, educational apps (Khan Academy, </a:t>
            </a:r>
            <a:r>
              <a:rPr lang="en-US" dirty="0" err="1">
                <a:hlinkClick r:id="rId2"/>
              </a:rPr>
              <a:t>Skillshare</a:t>
            </a:r>
            <a:r>
              <a:rPr lang="en-US" dirty="0"/>
              <a:t>), and multimedia make lessons more engaging and cater to different learning styles.</a:t>
            </a:r>
          </a:p>
          <a:p>
            <a:r>
              <a:rPr lang="en-US" b="1" dirty="0"/>
              <a:t>Accessibility &amp; Flexibility:</a:t>
            </a:r>
            <a:r>
              <a:rPr lang="en-US" dirty="0"/>
              <a:t> Online courses, virtual classrooms (Zoom, Teams), and digital materials provide access anytime, anywhere, essential during disruptions like the pandemic.</a:t>
            </a:r>
          </a:p>
          <a:p>
            <a:r>
              <a:rPr lang="en-US" b="1" dirty="0"/>
              <a:t>Digital Literacy:</a:t>
            </a:r>
            <a:r>
              <a:rPr lang="en-US" dirty="0"/>
              <a:t> Equips individuals with essential skills for a computer-dominated world, crucial for future careers.</a:t>
            </a:r>
          </a:p>
          <a:p>
            <a:r>
              <a:rPr lang="en-US" b="1" dirty="0"/>
              <a:t>Social Change:</a:t>
            </a:r>
            <a:r>
              <a:rPr lang="en-US" dirty="0"/>
              <a:t> IT influences societal structures, power dynamics, and communication, similar to past industrial revolutions, requiring examination of its true impact beyond mere efficiency.</a:t>
            </a:r>
          </a:p>
          <a:p>
            <a:endParaRPr lang="en-IN" dirty="0"/>
          </a:p>
        </p:txBody>
      </p:sp>
    </p:spTree>
    <p:extLst>
      <p:ext uri="{BB962C8B-B14F-4D97-AF65-F5344CB8AC3E}">
        <p14:creationId xmlns:p14="http://schemas.microsoft.com/office/powerpoint/2010/main" val="191151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22266-CDF5-68FB-B49C-EB0C9FC9D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3575C-E3AF-35BE-65C2-BDA3422E074D}"/>
              </a:ext>
            </a:extLst>
          </p:cNvPr>
          <p:cNvSpPr>
            <a:spLocks noGrp="1"/>
          </p:cNvSpPr>
          <p:nvPr>
            <p:ph type="title"/>
          </p:nvPr>
        </p:nvSpPr>
        <p:spPr/>
        <p:txBody>
          <a:bodyPr/>
          <a:lstStyle/>
          <a:p>
            <a:r>
              <a:rPr lang="en-US" dirty="0"/>
              <a:t>E</a:t>
            </a:r>
            <a:r>
              <a:rPr lang="en-IN" dirty="0" err="1"/>
              <a:t>nterprise</a:t>
            </a:r>
            <a:r>
              <a:rPr lang="en-IN" dirty="0"/>
              <a:t> Resource Planning</a:t>
            </a:r>
          </a:p>
        </p:txBody>
      </p:sp>
      <p:sp>
        <p:nvSpPr>
          <p:cNvPr id="3" name="Content Placeholder 2">
            <a:extLst>
              <a:ext uri="{FF2B5EF4-FFF2-40B4-BE49-F238E27FC236}">
                <a16:creationId xmlns:a16="http://schemas.microsoft.com/office/drawing/2014/main" id="{A16A0C04-88BC-92EF-76F7-FF80CEEBA0A8}"/>
              </a:ext>
            </a:extLst>
          </p:cNvPr>
          <p:cNvSpPr>
            <a:spLocks noGrp="1"/>
          </p:cNvSpPr>
          <p:nvPr>
            <p:ph idx="1"/>
          </p:nvPr>
        </p:nvSpPr>
        <p:spPr/>
        <p:txBody>
          <a:bodyPr anchor="ctr"/>
          <a:lstStyle/>
          <a:p>
            <a:pPr marL="0" indent="0">
              <a:buNone/>
            </a:pPr>
            <a:r>
              <a:rPr lang="en-US" dirty="0"/>
              <a:t>Enterprise Resource Planning (ERP) is integrated business management software that unifies core processes like finance, HR, manufacturing, and supply chain into a single system, providing a single source of truth for data, automating tasks, improving efficiency, and enabling real-time insights for better decision-making across an organization</a:t>
            </a:r>
            <a:endParaRPr lang="en-IN" dirty="0"/>
          </a:p>
        </p:txBody>
      </p:sp>
    </p:spTree>
    <p:extLst>
      <p:ext uri="{BB962C8B-B14F-4D97-AF65-F5344CB8AC3E}">
        <p14:creationId xmlns:p14="http://schemas.microsoft.com/office/powerpoint/2010/main" val="207107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1A714-01EC-AC8F-57CC-DAD8BACF0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2B2D0-EFB5-90D7-34D7-AA0A745ADD40}"/>
              </a:ext>
            </a:extLst>
          </p:cNvPr>
          <p:cNvSpPr>
            <a:spLocks noGrp="1"/>
          </p:cNvSpPr>
          <p:nvPr>
            <p:ph type="title"/>
          </p:nvPr>
        </p:nvSpPr>
        <p:spPr/>
        <p:txBody>
          <a:bodyPr/>
          <a:lstStyle/>
          <a:p>
            <a:r>
              <a:rPr lang="en-US" dirty="0"/>
              <a:t>Key Features of ERP Systems</a:t>
            </a:r>
            <a:endParaRPr lang="en-IN" dirty="0"/>
          </a:p>
        </p:txBody>
      </p:sp>
      <p:sp>
        <p:nvSpPr>
          <p:cNvPr id="3" name="Content Placeholder 2">
            <a:extLst>
              <a:ext uri="{FF2B5EF4-FFF2-40B4-BE49-F238E27FC236}">
                <a16:creationId xmlns:a16="http://schemas.microsoft.com/office/drawing/2014/main" id="{9195733F-5896-35E5-473C-D954F5951873}"/>
              </a:ext>
            </a:extLst>
          </p:cNvPr>
          <p:cNvSpPr>
            <a:spLocks noGrp="1"/>
          </p:cNvSpPr>
          <p:nvPr>
            <p:ph idx="1"/>
          </p:nvPr>
        </p:nvSpPr>
        <p:spPr/>
        <p:txBody>
          <a:bodyPr anchor="ctr"/>
          <a:lstStyle/>
          <a:p>
            <a:r>
              <a:rPr lang="en-US" b="1" dirty="0"/>
              <a:t>Integration:</a:t>
            </a:r>
            <a:r>
              <a:rPr lang="en-US" dirty="0"/>
              <a:t> Connects disparate departments, creating a single source of truth and breaking down data silos.</a:t>
            </a:r>
          </a:p>
          <a:p>
            <a:r>
              <a:rPr lang="en-US" b="1" dirty="0"/>
              <a:t>Centralized Database:</a:t>
            </a:r>
            <a:r>
              <a:rPr lang="en-US" dirty="0"/>
              <a:t> A single, unified database for all business information.</a:t>
            </a:r>
          </a:p>
          <a:p>
            <a:r>
              <a:rPr lang="en-US" b="1" dirty="0"/>
              <a:t>Scalability &amp; Customization:</a:t>
            </a:r>
            <a:r>
              <a:rPr lang="en-US" dirty="0"/>
              <a:t> Can grow with the business and be tailored to specific processes.</a:t>
            </a:r>
          </a:p>
        </p:txBody>
      </p:sp>
    </p:spTree>
    <p:extLst>
      <p:ext uri="{BB962C8B-B14F-4D97-AF65-F5344CB8AC3E}">
        <p14:creationId xmlns:p14="http://schemas.microsoft.com/office/powerpoint/2010/main" val="478744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23DD9-9A9B-6B58-9DB1-5701E9AA1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6849B-88B1-2F00-D7BC-9FD130937AFA}"/>
              </a:ext>
            </a:extLst>
          </p:cNvPr>
          <p:cNvSpPr>
            <a:spLocks noGrp="1"/>
          </p:cNvSpPr>
          <p:nvPr>
            <p:ph type="title"/>
          </p:nvPr>
        </p:nvSpPr>
        <p:spPr/>
        <p:txBody>
          <a:bodyPr/>
          <a:lstStyle/>
          <a:p>
            <a:r>
              <a:rPr lang="en-US" dirty="0"/>
              <a:t>Benefits of ERP</a:t>
            </a:r>
            <a:endParaRPr lang="en-IN" dirty="0"/>
          </a:p>
        </p:txBody>
      </p:sp>
      <p:sp>
        <p:nvSpPr>
          <p:cNvPr id="3" name="Content Placeholder 2">
            <a:extLst>
              <a:ext uri="{FF2B5EF4-FFF2-40B4-BE49-F238E27FC236}">
                <a16:creationId xmlns:a16="http://schemas.microsoft.com/office/drawing/2014/main" id="{5E217D13-FD3F-A834-AF03-40910715DBEB}"/>
              </a:ext>
            </a:extLst>
          </p:cNvPr>
          <p:cNvSpPr>
            <a:spLocks noGrp="1"/>
          </p:cNvSpPr>
          <p:nvPr>
            <p:ph idx="1"/>
          </p:nvPr>
        </p:nvSpPr>
        <p:spPr/>
        <p:txBody>
          <a:bodyPr anchor="ctr"/>
          <a:lstStyle/>
          <a:p>
            <a:r>
              <a:rPr lang="en-IN" b="1" dirty="0"/>
              <a:t>Operational Efficiency &amp; Productivity</a:t>
            </a:r>
          </a:p>
          <a:p>
            <a:r>
              <a:rPr lang="en-IN" b="1" dirty="0"/>
              <a:t>Financial Management</a:t>
            </a:r>
          </a:p>
          <a:p>
            <a:r>
              <a:rPr lang="en-IN" b="1" dirty="0"/>
              <a:t>Data &amp; Decision Making</a:t>
            </a:r>
          </a:p>
          <a:p>
            <a:r>
              <a:rPr lang="en-IN" b="1" dirty="0"/>
              <a:t>Security &amp; Compliance</a:t>
            </a:r>
          </a:p>
          <a:p>
            <a:r>
              <a:rPr lang="en-IN" b="1" dirty="0"/>
              <a:t>Growth &amp; Agility</a:t>
            </a:r>
            <a:endParaRPr lang="en-IN" dirty="0"/>
          </a:p>
        </p:txBody>
      </p:sp>
    </p:spTree>
    <p:extLst>
      <p:ext uri="{BB962C8B-B14F-4D97-AF65-F5344CB8AC3E}">
        <p14:creationId xmlns:p14="http://schemas.microsoft.com/office/powerpoint/2010/main" val="859678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ABF7E-1C74-E89F-52BA-B272639EB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8F0FC-1B45-3F68-9F2F-169DA42795AA}"/>
              </a:ext>
            </a:extLst>
          </p:cNvPr>
          <p:cNvSpPr>
            <a:spLocks noGrp="1"/>
          </p:cNvSpPr>
          <p:nvPr>
            <p:ph type="title"/>
          </p:nvPr>
        </p:nvSpPr>
        <p:spPr/>
        <p:txBody>
          <a:bodyPr/>
          <a:lstStyle/>
          <a:p>
            <a:r>
              <a:rPr lang="en-US" dirty="0"/>
              <a:t>Popular ERP Software</a:t>
            </a:r>
            <a:endParaRPr lang="en-IN" dirty="0"/>
          </a:p>
        </p:txBody>
      </p:sp>
      <p:sp>
        <p:nvSpPr>
          <p:cNvPr id="3" name="Content Placeholder 2">
            <a:extLst>
              <a:ext uri="{FF2B5EF4-FFF2-40B4-BE49-F238E27FC236}">
                <a16:creationId xmlns:a16="http://schemas.microsoft.com/office/drawing/2014/main" id="{E96D5646-5B49-BA6F-CCFA-4D9C2EC10F9D}"/>
              </a:ext>
            </a:extLst>
          </p:cNvPr>
          <p:cNvSpPr>
            <a:spLocks noGrp="1"/>
          </p:cNvSpPr>
          <p:nvPr>
            <p:ph idx="1"/>
          </p:nvPr>
        </p:nvSpPr>
        <p:spPr/>
        <p:txBody>
          <a:bodyPr anchor="ctr"/>
          <a:lstStyle/>
          <a:p>
            <a:r>
              <a:rPr lang="en-IN" b="1" dirty="0"/>
              <a:t>SAP S/4HANA</a:t>
            </a:r>
            <a:r>
              <a:rPr lang="en-IN" dirty="0"/>
              <a:t>,</a:t>
            </a:r>
          </a:p>
          <a:p>
            <a:r>
              <a:rPr lang="en-IN" b="1" dirty="0"/>
              <a:t>Oracle NetSuite</a:t>
            </a:r>
            <a:endParaRPr lang="en-IN" dirty="0"/>
          </a:p>
          <a:p>
            <a:r>
              <a:rPr lang="en-IN" b="1" dirty="0"/>
              <a:t>Microsoft Dynamics 365</a:t>
            </a:r>
            <a:endParaRPr lang="en-IN" dirty="0"/>
          </a:p>
        </p:txBody>
      </p:sp>
    </p:spTree>
    <p:extLst>
      <p:ext uri="{BB962C8B-B14F-4D97-AF65-F5344CB8AC3E}">
        <p14:creationId xmlns:p14="http://schemas.microsoft.com/office/powerpoint/2010/main" val="1136127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D994-5D2E-ED46-6FE1-54EDEE8555DD}"/>
              </a:ext>
            </a:extLst>
          </p:cNvPr>
          <p:cNvSpPr>
            <a:spLocks noGrp="1"/>
          </p:cNvSpPr>
          <p:nvPr>
            <p:ph type="title"/>
          </p:nvPr>
        </p:nvSpPr>
        <p:spPr/>
        <p:txBody>
          <a:bodyPr/>
          <a:lstStyle/>
          <a:p>
            <a:r>
              <a:rPr lang="en-US" dirty="0"/>
              <a:t>How ERP Platforms Work</a:t>
            </a:r>
            <a:endParaRPr lang="en-IN" dirty="0"/>
          </a:p>
        </p:txBody>
      </p:sp>
      <p:sp>
        <p:nvSpPr>
          <p:cNvPr id="3" name="Content Placeholder 2">
            <a:extLst>
              <a:ext uri="{FF2B5EF4-FFF2-40B4-BE49-F238E27FC236}">
                <a16:creationId xmlns:a16="http://schemas.microsoft.com/office/drawing/2014/main" id="{AE6DA4E1-8E66-3788-92CF-D13F37A764D4}"/>
              </a:ext>
            </a:extLst>
          </p:cNvPr>
          <p:cNvSpPr>
            <a:spLocks noGrp="1"/>
          </p:cNvSpPr>
          <p:nvPr>
            <p:ph idx="1"/>
          </p:nvPr>
        </p:nvSpPr>
        <p:spPr/>
        <p:txBody>
          <a:bodyPr>
            <a:normAutofit fontScale="92500" lnSpcReduction="10000"/>
          </a:bodyPr>
          <a:lstStyle/>
          <a:p>
            <a:r>
              <a:rPr lang="en-US" b="1" dirty="0"/>
              <a:t>Central Database:</a:t>
            </a:r>
            <a:r>
              <a:rPr lang="en-US" dirty="0"/>
              <a:t> All business data, from sales orders to inventory levels, flows into one unified database, removing duplication and ensuring consistency.</a:t>
            </a:r>
          </a:p>
          <a:p>
            <a:r>
              <a:rPr lang="en-US" b="1" dirty="0">
                <a:hlinkClick r:id="rId2"/>
              </a:rPr>
              <a:t>Modular Architecture</a:t>
            </a:r>
            <a:r>
              <a:rPr lang="en-US" b="1" dirty="0"/>
              <a:t>:</a:t>
            </a:r>
            <a:r>
              <a:rPr lang="en-US" dirty="0"/>
              <a:t> The system is built from interconnected applications (modules) for different departments (e.g., finance, HR, logistics) that all use the same central data.</a:t>
            </a:r>
          </a:p>
          <a:p>
            <a:r>
              <a:rPr lang="en-US" b="1" dirty="0">
                <a:hlinkClick r:id="rId3"/>
              </a:rPr>
              <a:t>Automated Workflows</a:t>
            </a:r>
            <a:r>
              <a:rPr lang="en-US" b="1" dirty="0"/>
              <a:t>:</a:t>
            </a:r>
            <a:r>
              <a:rPr lang="en-US" dirty="0"/>
              <a:t> Predefined rules and logic automate processes, such as triggering a purchase order when stock runs low or updating inventory automatically after a sale.</a:t>
            </a:r>
          </a:p>
          <a:p>
            <a:r>
              <a:rPr lang="en-US" b="1" dirty="0"/>
              <a:t>Real-time Visibility:</a:t>
            </a:r>
            <a:r>
              <a:rPr lang="en-US" dirty="0"/>
              <a:t> Authorized users access up-to-the-minute information through a common interface, enabling faster, data-driven decisions and better cross-functional collaboration. </a:t>
            </a:r>
          </a:p>
          <a:p>
            <a:endParaRPr lang="en-IN" dirty="0"/>
          </a:p>
        </p:txBody>
      </p:sp>
    </p:spTree>
    <p:extLst>
      <p:ext uri="{BB962C8B-B14F-4D97-AF65-F5344CB8AC3E}">
        <p14:creationId xmlns:p14="http://schemas.microsoft.com/office/powerpoint/2010/main" val="411958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D82A-1A25-7584-C366-24CF39D9A577}"/>
              </a:ext>
            </a:extLst>
          </p:cNvPr>
          <p:cNvSpPr>
            <a:spLocks noGrp="1"/>
          </p:cNvSpPr>
          <p:nvPr>
            <p:ph type="title"/>
          </p:nvPr>
        </p:nvSpPr>
        <p:spPr/>
        <p:txBody>
          <a:bodyPr/>
          <a:lstStyle/>
          <a:p>
            <a:r>
              <a:rPr lang="en-US" dirty="0"/>
              <a:t>Types of ERP</a:t>
            </a:r>
            <a:endParaRPr lang="en-IN" dirty="0"/>
          </a:p>
        </p:txBody>
      </p:sp>
      <p:sp>
        <p:nvSpPr>
          <p:cNvPr id="3" name="Content Placeholder 2">
            <a:extLst>
              <a:ext uri="{FF2B5EF4-FFF2-40B4-BE49-F238E27FC236}">
                <a16:creationId xmlns:a16="http://schemas.microsoft.com/office/drawing/2014/main" id="{0A39B8B6-D7D6-969A-66C8-37D2376AED9C}"/>
              </a:ext>
            </a:extLst>
          </p:cNvPr>
          <p:cNvSpPr>
            <a:spLocks noGrp="1"/>
          </p:cNvSpPr>
          <p:nvPr>
            <p:ph idx="1"/>
          </p:nvPr>
        </p:nvSpPr>
        <p:spPr/>
        <p:txBody>
          <a:bodyPr/>
          <a:lstStyle/>
          <a:p>
            <a:r>
              <a:rPr lang="en-US" dirty="0"/>
              <a:t>On-premise</a:t>
            </a:r>
          </a:p>
          <a:p>
            <a:r>
              <a:rPr lang="en-US" dirty="0"/>
              <a:t>Cloud </a:t>
            </a:r>
          </a:p>
          <a:p>
            <a:r>
              <a:rPr lang="en-US" dirty="0"/>
              <a:t>Hybrid</a:t>
            </a:r>
          </a:p>
          <a:p>
            <a:r>
              <a:rPr lang="en-US" dirty="0"/>
              <a:t>Vertical ERP</a:t>
            </a:r>
          </a:p>
          <a:p>
            <a:r>
              <a:rPr lang="en-US" dirty="0"/>
              <a:t>Horizontal ERP</a:t>
            </a:r>
          </a:p>
          <a:p>
            <a:r>
              <a:rPr lang="en-US" dirty="0"/>
              <a:t>Open-Source ERP</a:t>
            </a:r>
            <a:endParaRPr lang="en-IN" dirty="0"/>
          </a:p>
        </p:txBody>
      </p:sp>
    </p:spTree>
    <p:extLst>
      <p:ext uri="{BB962C8B-B14F-4D97-AF65-F5344CB8AC3E}">
        <p14:creationId xmlns:p14="http://schemas.microsoft.com/office/powerpoint/2010/main" val="360942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840E-96D8-BE7B-D02A-926F167A498D}"/>
              </a:ext>
            </a:extLst>
          </p:cNvPr>
          <p:cNvSpPr>
            <a:spLocks noGrp="1"/>
          </p:cNvSpPr>
          <p:nvPr>
            <p:ph type="title"/>
          </p:nvPr>
        </p:nvSpPr>
        <p:spPr/>
        <p:txBody>
          <a:bodyPr/>
          <a:lstStyle/>
          <a:p>
            <a:r>
              <a:rPr lang="en-US" dirty="0"/>
              <a:t>Benefits of ERP</a:t>
            </a:r>
            <a:endParaRPr lang="en-IN" dirty="0"/>
          </a:p>
        </p:txBody>
      </p:sp>
      <p:sp>
        <p:nvSpPr>
          <p:cNvPr id="3" name="Content Placeholder 2">
            <a:extLst>
              <a:ext uri="{FF2B5EF4-FFF2-40B4-BE49-F238E27FC236}">
                <a16:creationId xmlns:a16="http://schemas.microsoft.com/office/drawing/2014/main" id="{10BD895C-E1BD-9208-FE34-8DC17AEA6341}"/>
              </a:ext>
            </a:extLst>
          </p:cNvPr>
          <p:cNvSpPr>
            <a:spLocks noGrp="1"/>
          </p:cNvSpPr>
          <p:nvPr>
            <p:ph idx="1"/>
          </p:nvPr>
        </p:nvSpPr>
        <p:spPr/>
        <p:txBody>
          <a:bodyPr>
            <a:normAutofit lnSpcReduction="10000"/>
          </a:bodyPr>
          <a:lstStyle/>
          <a:p>
            <a:r>
              <a:rPr lang="en-US" b="1" dirty="0"/>
              <a:t>Information Integration :</a:t>
            </a:r>
            <a:r>
              <a:rPr lang="en-US" dirty="0"/>
              <a:t> The most important benefit is promotion of integration. It is because it has the ability to update data between related business functions and components.</a:t>
            </a:r>
          </a:p>
          <a:p>
            <a:r>
              <a:rPr lang="en-US" b="1" dirty="0"/>
              <a:t>Reduction of Lead-Time :</a:t>
            </a:r>
            <a:r>
              <a:rPr lang="en-US" dirty="0"/>
              <a:t> Lead-Time is the elapsed time between placing an order and receiving it. By reducing Lead-Time organization should have an efficient inventory management system, which is integrated with the purchasing, production planning and production departments.</a:t>
            </a:r>
          </a:p>
          <a:p>
            <a:r>
              <a:rPr lang="en-US" b="1" dirty="0"/>
              <a:t>Increased Flexibility :</a:t>
            </a:r>
            <a:r>
              <a:rPr lang="en-US" dirty="0"/>
              <a:t> Product flexibility is type of ability of the operation to efficiently produce highly customized and unique products.</a:t>
            </a:r>
            <a:endParaRPr lang="en-IN" dirty="0"/>
          </a:p>
        </p:txBody>
      </p:sp>
    </p:spTree>
    <p:extLst>
      <p:ext uri="{BB962C8B-B14F-4D97-AF65-F5344CB8AC3E}">
        <p14:creationId xmlns:p14="http://schemas.microsoft.com/office/powerpoint/2010/main" val="54696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F39DF-EC7F-0CD6-01FF-BE4A87C2C547}"/>
              </a:ext>
            </a:extLst>
          </p:cNvPr>
          <p:cNvSpPr>
            <a:spLocks noGrp="1"/>
          </p:cNvSpPr>
          <p:nvPr>
            <p:ph type="title"/>
          </p:nvPr>
        </p:nvSpPr>
        <p:spPr/>
        <p:txBody>
          <a:bodyPr/>
          <a:lstStyle/>
          <a:p>
            <a:r>
              <a:rPr lang="en-US" dirty="0"/>
              <a:t>Introduction to Data Lifecycle Management(DLM)</a:t>
            </a:r>
            <a:endParaRPr lang="en-IN" dirty="0"/>
          </a:p>
        </p:txBody>
      </p:sp>
      <p:sp>
        <p:nvSpPr>
          <p:cNvPr id="3" name="Content Placeholder 2">
            <a:extLst>
              <a:ext uri="{FF2B5EF4-FFF2-40B4-BE49-F238E27FC236}">
                <a16:creationId xmlns:a16="http://schemas.microsoft.com/office/drawing/2014/main" id="{91FFAC93-94C0-D256-E3F4-33ADB7417087}"/>
              </a:ext>
            </a:extLst>
          </p:cNvPr>
          <p:cNvSpPr>
            <a:spLocks noGrp="1"/>
          </p:cNvSpPr>
          <p:nvPr>
            <p:ph idx="1"/>
          </p:nvPr>
        </p:nvSpPr>
        <p:spPr/>
        <p:txBody>
          <a:bodyPr/>
          <a:lstStyle/>
          <a:p>
            <a:pPr marL="0" indent="0">
              <a:buNone/>
            </a:pPr>
            <a:r>
              <a:rPr lang="en-US" dirty="0"/>
              <a:t>Data Lifecycle Management (DLM) is a policy-based approach to managing an organization's data from its initial creation or capture, through its active use and storage, to its final archival or secure destruction. As the volume of data grows, DLM ensures that information is properly governed, secured, and stored cost-effectively. </a:t>
            </a:r>
            <a:endParaRPr lang="en-IN" dirty="0"/>
          </a:p>
        </p:txBody>
      </p:sp>
    </p:spTree>
    <p:extLst>
      <p:ext uri="{BB962C8B-B14F-4D97-AF65-F5344CB8AC3E}">
        <p14:creationId xmlns:p14="http://schemas.microsoft.com/office/powerpoint/2010/main" val="33763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2AB665-63B0-C3A6-7338-F44E13888F3C}"/>
              </a:ext>
            </a:extLst>
          </p:cNvPr>
          <p:cNvSpPr>
            <a:spLocks noChangeArrowheads="1"/>
          </p:cNvSpPr>
          <p:nvPr/>
        </p:nvSpPr>
        <p:spPr bwMode="auto">
          <a:xfrm>
            <a:off x="1327353" y="2418569"/>
            <a:ext cx="932098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A </a:t>
            </a:r>
            <a:r>
              <a:rPr kumimoji="0" lang="en-US" altLang="en-US" sz="2000" b="1" i="0" u="none" strike="noStrike" cap="none" normalizeH="0" baseline="0" dirty="0">
                <a:ln>
                  <a:noFill/>
                </a:ln>
                <a:effectLst/>
                <a:latin typeface="Arial" panose="020B0604020202020204" pitchFamily="34" charset="0"/>
              </a:rPr>
              <a:t>Business Analyst (BA)</a:t>
            </a:r>
            <a:r>
              <a:rPr kumimoji="0" lang="en-US" altLang="en-US" sz="2000" b="0" i="0" u="none" strike="noStrike" cap="none" normalizeH="0" baseline="0" dirty="0">
                <a:ln>
                  <a:noFill/>
                </a:ln>
                <a:effectLst/>
                <a:latin typeface="Arial" panose="020B0604020202020204" pitchFamily="34" charset="0"/>
              </a:rPr>
              <a:t> acts as a bridge between business stakeholders and IT teams to ensure that organizational needs are understood and addressed effectively. They identify business problems, analyze processes, and propose solutions that improve efficiency and support strategic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Key points:</a:t>
            </a: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Gathers and documents business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Analyzes data and processes to recommend improvements.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Facilitates communication between technical teams and business stakeholders.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Supports the implementation of solutions and evaluates outcomes.</a:t>
            </a:r>
          </a:p>
        </p:txBody>
      </p:sp>
      <p:sp>
        <p:nvSpPr>
          <p:cNvPr id="4" name="TextBox 3">
            <a:extLst>
              <a:ext uri="{FF2B5EF4-FFF2-40B4-BE49-F238E27FC236}">
                <a16:creationId xmlns:a16="http://schemas.microsoft.com/office/drawing/2014/main" id="{949F289C-4EE6-E6F1-0088-B7CDC72BFCA2}"/>
              </a:ext>
            </a:extLst>
          </p:cNvPr>
          <p:cNvSpPr txBox="1"/>
          <p:nvPr/>
        </p:nvSpPr>
        <p:spPr>
          <a:xfrm>
            <a:off x="2713702" y="680010"/>
            <a:ext cx="6548285"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effectLst/>
                <a:latin typeface="Gill Sans MT" panose="020B0502020104020203" pitchFamily="34" charset="0"/>
              </a:rPr>
              <a:t>INTRODUCTION TO THE BUSINESS ANALYST ROLE</a:t>
            </a:r>
            <a:endParaRPr kumimoji="0" lang="en-US" altLang="en-US" sz="3200" b="0" i="0" u="none" strike="noStrike" cap="none" normalizeH="0" baseline="0" dirty="0">
              <a:ln>
                <a:noFill/>
              </a:ln>
              <a:effectLst/>
              <a:latin typeface="Gill Sans MT" panose="020B0502020104020203" pitchFamily="34" charset="0"/>
            </a:endParaRPr>
          </a:p>
        </p:txBody>
      </p:sp>
    </p:spTree>
    <p:extLst>
      <p:ext uri="{BB962C8B-B14F-4D97-AF65-F5344CB8AC3E}">
        <p14:creationId xmlns:p14="http://schemas.microsoft.com/office/powerpoint/2010/main" val="4170130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6A88DC-7DAC-749C-D1BD-7E9D1FEAA7C1}"/>
              </a:ext>
            </a:extLst>
          </p:cNvPr>
          <p:cNvSpPr>
            <a:spLocks noChangeArrowheads="1"/>
          </p:cNvSpPr>
          <p:nvPr/>
        </p:nvSpPr>
        <p:spPr bwMode="auto">
          <a:xfrm>
            <a:off x="801329" y="443568"/>
            <a:ext cx="10771240"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effectLst/>
                <a:latin typeface="Gill Sans MT" panose="020B0502020104020203" pitchFamily="34" charset="0"/>
              </a:rPr>
              <a:t>RESPONSIBILITIES OF A BUSINESS ANALYST: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5">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Requirement Gathering:</a:t>
            </a:r>
            <a:r>
              <a:rPr kumimoji="0" lang="en-US" altLang="en-US" sz="2000" b="0" i="0" u="none" strike="noStrike" cap="none" normalizeH="0" baseline="0" dirty="0">
                <a:ln>
                  <a:noFill/>
                </a:ln>
                <a:effectLst/>
                <a:latin typeface="Arial" panose="020B0604020202020204" pitchFamily="34" charset="0"/>
              </a:rPr>
              <a:t> Collect and document business needs from stakeholders.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Process Analysis:</a:t>
            </a:r>
            <a:r>
              <a:rPr kumimoji="0" lang="en-US" altLang="en-US" sz="2000" b="0" i="0" u="none" strike="noStrike" cap="none" normalizeH="0" baseline="0" dirty="0">
                <a:ln>
                  <a:noFill/>
                </a:ln>
                <a:effectLst/>
                <a:latin typeface="Arial" panose="020B0604020202020204" pitchFamily="34" charset="0"/>
              </a:rPr>
              <a:t> Evaluate current workflows and identify areas for improvement.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Solution Recommendation:</a:t>
            </a:r>
            <a:r>
              <a:rPr kumimoji="0" lang="en-US" altLang="en-US" sz="2000" b="0" i="0" u="none" strike="noStrike" cap="none" normalizeH="0" baseline="0" dirty="0">
                <a:ln>
                  <a:noFill/>
                </a:ln>
                <a:effectLst/>
                <a:latin typeface="Arial" panose="020B0604020202020204" pitchFamily="34" charset="0"/>
              </a:rPr>
              <a:t> Propose IT or process solutions to address business challenges.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Stakeholder Communication:</a:t>
            </a:r>
            <a:r>
              <a:rPr kumimoji="0" lang="en-US" altLang="en-US" sz="2000" b="0" i="0" u="none" strike="noStrike" cap="none" normalizeH="0" baseline="0" dirty="0">
                <a:ln>
                  <a:noFill/>
                </a:ln>
                <a:effectLst/>
                <a:latin typeface="Arial" panose="020B0604020202020204" pitchFamily="34" charset="0"/>
              </a:rPr>
              <a:t> Facilitate discussions between business and technical teams.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Support Implementation:</a:t>
            </a:r>
            <a:r>
              <a:rPr kumimoji="0" lang="en-US" altLang="en-US" sz="2000" b="0" i="0" u="none" strike="noStrike" cap="none" normalizeH="0" baseline="0" dirty="0">
                <a:ln>
                  <a:noFill/>
                </a:ln>
                <a:effectLst/>
                <a:latin typeface="Arial" panose="020B0604020202020204" pitchFamily="34" charset="0"/>
              </a:rPr>
              <a:t> Assist in deploying solutions and ensure they meet requirements.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Monitoring Outcomes:</a:t>
            </a:r>
            <a:r>
              <a:rPr kumimoji="0" lang="en-US" altLang="en-US" sz="2000" b="0" i="0" u="none" strike="noStrike" cap="none" normalizeH="0" baseline="0" dirty="0">
                <a:ln>
                  <a:noFill/>
                </a:ln>
                <a:effectLst/>
                <a:latin typeface="Arial" panose="020B0604020202020204" pitchFamily="34" charset="0"/>
              </a:rPr>
              <a:t> Track results to ensure business objectives are achieved.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2153859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A3596-E512-EAFA-D611-F390A38E0BDF}"/>
              </a:ext>
            </a:extLst>
          </p:cNvPr>
          <p:cNvSpPr>
            <a:spLocks noChangeArrowheads="1"/>
          </p:cNvSpPr>
          <p:nvPr/>
        </p:nvSpPr>
        <p:spPr bwMode="auto">
          <a:xfrm>
            <a:off x="1125793" y="1029608"/>
            <a:ext cx="994041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effectLst/>
                <a:latin typeface="Gill Sans MT" panose="020B0502020104020203" pitchFamily="34" charset="0"/>
              </a:rPr>
              <a:t>KEY SKILLS FOR BUSINESS ANALYSTS: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latin typeface="Gill Sans MT" panose="020B05020201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Communication:</a:t>
            </a:r>
            <a:r>
              <a:rPr kumimoji="0" lang="en-US" altLang="en-US" sz="2000" b="0" i="0" u="none" strike="noStrike" cap="none" normalizeH="0" baseline="0" dirty="0">
                <a:ln>
                  <a:noFill/>
                </a:ln>
                <a:effectLst/>
                <a:latin typeface="Arial" panose="020B0604020202020204" pitchFamily="34" charset="0"/>
              </a:rPr>
              <a:t> Clearly convey ideas, requirements, and solutions to both business stakeholders and technical teams.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Analytical Thinking:</a:t>
            </a:r>
            <a:r>
              <a:rPr kumimoji="0" lang="en-US" altLang="en-US" sz="2000" b="0" i="0" u="none" strike="noStrike" cap="none" normalizeH="0" baseline="0" dirty="0">
                <a:ln>
                  <a:noFill/>
                </a:ln>
                <a:effectLst/>
                <a:latin typeface="Arial" panose="020B0604020202020204" pitchFamily="34" charset="0"/>
              </a:rPr>
              <a:t> Examine data, processes, and problems to identify trends, patterns, and opportunities for improvement.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Problem-Solving:</a:t>
            </a:r>
            <a:r>
              <a:rPr kumimoji="0" lang="en-US" altLang="en-US" sz="2000" b="0" i="0" u="none" strike="noStrike" cap="none" normalizeH="0" baseline="0" dirty="0">
                <a:ln>
                  <a:noFill/>
                </a:ln>
                <a:effectLst/>
                <a:latin typeface="Arial" panose="020B0604020202020204" pitchFamily="34" charset="0"/>
              </a:rPr>
              <a:t> Develop practical and effective solutions to business challenges, ensuring alignment with organizational goals.</a:t>
            </a:r>
          </a:p>
        </p:txBody>
      </p:sp>
    </p:spTree>
    <p:extLst>
      <p:ext uri="{BB962C8B-B14F-4D97-AF65-F5344CB8AC3E}">
        <p14:creationId xmlns:p14="http://schemas.microsoft.com/office/powerpoint/2010/main" val="249488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06140A-5BFE-7A3E-E033-E87BF67FB0D1}"/>
              </a:ext>
            </a:extLst>
          </p:cNvPr>
          <p:cNvSpPr>
            <a:spLocks noChangeArrowheads="1"/>
          </p:cNvSpPr>
          <p:nvPr/>
        </p:nvSpPr>
        <p:spPr bwMode="auto">
          <a:xfrm>
            <a:off x="600380" y="1413083"/>
            <a:ext cx="1099123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effectLst/>
                <a:latin typeface="Arial" panose="020B0604020202020204" pitchFamily="34" charset="0"/>
              </a:rPr>
              <a:t>Business Analysis Methodologies </a:t>
            </a:r>
            <a:r>
              <a:rPr kumimoji="0" lang="en-US" altLang="en-US" b="0" i="0" u="none" strike="noStrike" cap="none" normalizeH="0" baseline="0" dirty="0">
                <a:ln>
                  <a:noFill/>
                </a:ln>
                <a:effectLst/>
                <a:latin typeface="Arial" panose="020B0604020202020204" pitchFamily="34" charset="0"/>
              </a:rPr>
              <a:t>define how business analysts approach projects and deliver solutions. Common methodologies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effectLst/>
                <a:latin typeface="Arial" panose="020B0604020202020204" pitchFamily="34" charset="0"/>
              </a:rPr>
              <a:t>Waterfall:</a:t>
            </a:r>
            <a:endParaRPr kumimoji="0" lang="en-US" altLang="en-US"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effectLst/>
                <a:latin typeface="Arial" panose="020B0604020202020204" pitchFamily="34" charset="0"/>
              </a:rPr>
              <a:t>A linear, sequential approach where each phase (requirements, design, development, testing) is completed before moving to the next.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effectLst/>
                <a:latin typeface="Arial" panose="020B0604020202020204" pitchFamily="34" charset="0"/>
              </a:rPr>
              <a:t>Best for projects with clear, fixed requirements.</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effectLst/>
                <a:latin typeface="Arial" panose="020B0604020202020204" pitchFamily="34" charset="0"/>
              </a:rPr>
              <a:t>Agile:</a:t>
            </a:r>
            <a:endParaRPr kumimoji="0" lang="en-US" altLang="en-US"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effectLst/>
                <a:latin typeface="Arial" panose="020B0604020202020204" pitchFamily="34" charset="0"/>
              </a:rPr>
              <a:t>An iterative and flexible approach with continuous feedback, allowing changes during the project.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effectLst/>
                <a:latin typeface="Arial" panose="020B0604020202020204" pitchFamily="34" charset="0"/>
              </a:rPr>
              <a:t>Focuses on delivering small, incremental solutions quickly.</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effectLst/>
                <a:latin typeface="Arial" panose="020B0604020202020204" pitchFamily="34" charset="0"/>
              </a:rPr>
              <a:t>Hybrid Approaches:</a:t>
            </a:r>
            <a:endParaRPr kumimoji="0" lang="en-US" altLang="en-US"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effectLst/>
                <a:latin typeface="Arial" panose="020B0604020202020204" pitchFamily="34" charset="0"/>
              </a:rPr>
              <a:t>Combines elements of both Waterfall and Agile depending on project needs.</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Arial" panose="020B0604020202020204" pitchFamily="34" charset="0"/>
              </a:rPr>
              <a:t>Summary:</a:t>
            </a:r>
            <a:r>
              <a:rPr kumimoji="0" lang="en-US" altLang="en-US" b="0" i="0" u="none" strike="noStrike" cap="none" normalizeH="0" baseline="0" dirty="0">
                <a:ln>
                  <a:noFill/>
                </a:ln>
                <a:effectLst/>
                <a:latin typeface="Arial" panose="020B0604020202020204" pitchFamily="34" charset="0"/>
              </a:rPr>
              <a:t> The choice of methodology depends on project complexity, clarity of requirements, and need for flexibility.</a:t>
            </a:r>
          </a:p>
        </p:txBody>
      </p:sp>
      <p:sp>
        <p:nvSpPr>
          <p:cNvPr id="3" name="TextBox 2">
            <a:extLst>
              <a:ext uri="{FF2B5EF4-FFF2-40B4-BE49-F238E27FC236}">
                <a16:creationId xmlns:a16="http://schemas.microsoft.com/office/drawing/2014/main" id="{F143ED59-2109-487E-BC1A-6B54EBE4C965}"/>
              </a:ext>
            </a:extLst>
          </p:cNvPr>
          <p:cNvSpPr txBox="1"/>
          <p:nvPr/>
        </p:nvSpPr>
        <p:spPr>
          <a:xfrm>
            <a:off x="2084438" y="539309"/>
            <a:ext cx="8023123" cy="584775"/>
          </a:xfrm>
          <a:prstGeom prst="rect">
            <a:avLst/>
          </a:prstGeom>
          <a:noFill/>
        </p:spPr>
        <p:txBody>
          <a:bodyPr wrap="square" rtlCol="0">
            <a:spAutoFit/>
          </a:bodyPr>
          <a:lstStyle/>
          <a:p>
            <a:r>
              <a:rPr lang="en-US" sz="3200" dirty="0">
                <a:latin typeface="Gill Sans MT" panose="020B0502020104020203" pitchFamily="34" charset="0"/>
              </a:rPr>
              <a:t>BUSINESS ANALYSIS METHODOLOGIES</a:t>
            </a:r>
            <a:endParaRPr lang="en-IN" sz="3200" dirty="0">
              <a:latin typeface="Gill Sans MT" panose="020B0502020104020203" pitchFamily="34" charset="0"/>
            </a:endParaRPr>
          </a:p>
        </p:txBody>
      </p:sp>
    </p:spTree>
    <p:extLst>
      <p:ext uri="{BB962C8B-B14F-4D97-AF65-F5344CB8AC3E}">
        <p14:creationId xmlns:p14="http://schemas.microsoft.com/office/powerpoint/2010/main" val="3687867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B0E85A-1C22-A334-2E9F-99E2F7CFF287}"/>
              </a:ext>
            </a:extLst>
          </p:cNvPr>
          <p:cNvSpPr>
            <a:spLocks noChangeArrowheads="1"/>
          </p:cNvSpPr>
          <p:nvPr/>
        </p:nvSpPr>
        <p:spPr bwMode="auto">
          <a:xfrm>
            <a:off x="580101" y="1571041"/>
            <a:ext cx="1103179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rPr>
              <a:t>Stakeholder Management </a:t>
            </a:r>
            <a:r>
              <a:rPr kumimoji="0" lang="en-US" altLang="en-US" sz="2000" b="0" i="0" u="none" strike="noStrike" cap="none" normalizeH="0" baseline="0" dirty="0">
                <a:ln>
                  <a:noFill/>
                </a:ln>
                <a:effectLst/>
                <a:latin typeface="Arial" panose="020B0604020202020204" pitchFamily="34" charset="0"/>
              </a:rPr>
              <a:t>is the process of identifying, engaging, and communicating with all individuals or groups who have an interest in a project or business initiative. It ensures that stakeholders’ needs and expectations are understood and addressed.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Key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Identify Stakeholders:</a:t>
            </a:r>
            <a:r>
              <a:rPr kumimoji="0" lang="en-US" altLang="en-US" sz="2000" b="0" i="0" u="none" strike="noStrike" cap="none" normalizeH="0" baseline="0" dirty="0">
                <a:ln>
                  <a:noFill/>
                </a:ln>
                <a:effectLst/>
                <a:latin typeface="Arial" panose="020B0604020202020204" pitchFamily="34" charset="0"/>
              </a:rPr>
              <a:t> Determine who is affected by or can influence the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Understand Expectations:</a:t>
            </a:r>
            <a:r>
              <a:rPr kumimoji="0" lang="en-US" altLang="en-US" sz="2000" b="0" i="0" u="none" strike="noStrike" cap="none" normalizeH="0" baseline="0" dirty="0">
                <a:ln>
                  <a:noFill/>
                </a:ln>
                <a:effectLst/>
                <a:latin typeface="Arial" panose="020B0604020202020204" pitchFamily="34" charset="0"/>
              </a:rPr>
              <a:t> Learn stakeholders’ priorities, concerns, and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Effective Communication:</a:t>
            </a:r>
            <a:r>
              <a:rPr kumimoji="0" lang="en-US" altLang="en-US" sz="2000" b="0" i="0" u="none" strike="noStrike" cap="none" normalizeH="0" baseline="0" dirty="0">
                <a:ln>
                  <a:noFill/>
                </a:ln>
                <a:effectLst/>
                <a:latin typeface="Arial" panose="020B0604020202020204" pitchFamily="34" charset="0"/>
              </a:rPr>
              <a:t> Share information clearly and regularly to keep stakeholders informed.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Manage Conflicts:</a:t>
            </a:r>
            <a:r>
              <a:rPr kumimoji="0" lang="en-US" altLang="en-US" sz="2000" b="0" i="0" u="none" strike="noStrike" cap="none" normalizeH="0" baseline="0" dirty="0">
                <a:ln>
                  <a:noFill/>
                </a:ln>
                <a:effectLst/>
                <a:latin typeface="Arial" panose="020B0604020202020204" pitchFamily="34" charset="0"/>
              </a:rPr>
              <a:t> Resolve disagreements and align stakeholders with project goals.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Ensure Engagement:</a:t>
            </a:r>
            <a:r>
              <a:rPr kumimoji="0" lang="en-US" altLang="en-US" sz="2000" b="0" i="0" u="none" strike="noStrike" cap="none" normalizeH="0" baseline="0" dirty="0">
                <a:ln>
                  <a:noFill/>
                </a:ln>
                <a:effectLst/>
                <a:latin typeface="Arial" panose="020B0604020202020204" pitchFamily="34" charset="0"/>
              </a:rPr>
              <a:t> Involve stakeholders in decision-making and progress updates.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Proper stakeholder management helps projects succeed by balancing interests and maintaining alignment with business objectives.</a:t>
            </a:r>
          </a:p>
        </p:txBody>
      </p:sp>
      <p:sp>
        <p:nvSpPr>
          <p:cNvPr id="3" name="TextBox 2">
            <a:extLst>
              <a:ext uri="{FF2B5EF4-FFF2-40B4-BE49-F238E27FC236}">
                <a16:creationId xmlns:a16="http://schemas.microsoft.com/office/drawing/2014/main" id="{A47F0A2A-B9BB-8C38-D93E-7B4040358C90}"/>
              </a:ext>
            </a:extLst>
          </p:cNvPr>
          <p:cNvSpPr txBox="1"/>
          <p:nvPr/>
        </p:nvSpPr>
        <p:spPr>
          <a:xfrm>
            <a:off x="3028332" y="690822"/>
            <a:ext cx="6135329" cy="584775"/>
          </a:xfrm>
          <a:prstGeom prst="rect">
            <a:avLst/>
          </a:prstGeom>
          <a:noFill/>
        </p:spPr>
        <p:txBody>
          <a:bodyPr wrap="square" rtlCol="0">
            <a:spAutoFit/>
          </a:bodyPr>
          <a:lstStyle/>
          <a:p>
            <a:r>
              <a:rPr lang="en-US" sz="3200" dirty="0">
                <a:latin typeface="Gill Sans MT" panose="020B0502020104020203" pitchFamily="34" charset="0"/>
              </a:rPr>
              <a:t>STAKEHOLDER MANAGEMENT</a:t>
            </a:r>
            <a:endParaRPr lang="en-IN" sz="3200" dirty="0">
              <a:latin typeface="Gill Sans MT" panose="020B0502020104020203" pitchFamily="34" charset="0"/>
            </a:endParaRPr>
          </a:p>
        </p:txBody>
      </p:sp>
    </p:spTree>
    <p:extLst>
      <p:ext uri="{BB962C8B-B14F-4D97-AF65-F5344CB8AC3E}">
        <p14:creationId xmlns:p14="http://schemas.microsoft.com/office/powerpoint/2010/main" val="4063525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CFCDAB-19FA-ADEE-A00D-56E8AD5BFF24}"/>
              </a:ext>
            </a:extLst>
          </p:cNvPr>
          <p:cNvSpPr>
            <a:spLocks noChangeArrowheads="1"/>
          </p:cNvSpPr>
          <p:nvPr/>
        </p:nvSpPr>
        <p:spPr bwMode="auto">
          <a:xfrm>
            <a:off x="530942" y="2105561"/>
            <a:ext cx="1105145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Data : </a:t>
            </a:r>
            <a:r>
              <a:rPr kumimoji="0" lang="en-US" altLang="en-US" sz="2000" i="0" u="none" strike="noStrike" cap="none" normalizeH="0" baseline="0" dirty="0">
                <a:ln>
                  <a:noFill/>
                </a:ln>
                <a:effectLst/>
                <a:latin typeface="Arial" panose="020B0604020202020204" pitchFamily="34" charset="0"/>
              </a:rPr>
              <a:t>Data</a:t>
            </a:r>
            <a:r>
              <a:rPr kumimoji="0" lang="en-US" altLang="en-US" sz="2000" b="0" i="0" u="none" strike="noStrike" cap="none" normalizeH="0" baseline="0" dirty="0">
                <a:ln>
                  <a:noFill/>
                </a:ln>
                <a:effectLst/>
                <a:latin typeface="Arial" panose="020B0604020202020204" pitchFamily="34" charset="0"/>
              </a:rPr>
              <a:t> is raw, unorganized facts, figures, or observations collected from various sources. On its own, it has no meaning until it is processed or analyzed to become useful information.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	</a:t>
            </a:r>
            <a:r>
              <a:rPr kumimoji="0" lang="en-US" altLang="en-US" sz="2000" i="0" u="none" strike="noStrike" cap="none" normalizeH="0" baseline="0" dirty="0">
                <a:ln>
                  <a:noFill/>
                </a:ln>
                <a:effectLst/>
                <a:latin typeface="Arial" panose="020B0604020202020204" pitchFamily="34" charset="0"/>
              </a:rPr>
              <a:t>Example: </a:t>
            </a:r>
            <a:r>
              <a:rPr kumimoji="0" lang="en-US" altLang="en-US" sz="2000" b="0" i="0" u="none" strike="noStrike" cap="none" normalizeH="0" baseline="0" dirty="0">
                <a:ln>
                  <a:noFill/>
                </a:ln>
                <a:effectLst/>
                <a:latin typeface="Arial" panose="020B0604020202020204" pitchFamily="34" charset="0"/>
              </a:rPr>
              <a:t>Numbers like </a:t>
            </a:r>
            <a:r>
              <a:rPr kumimoji="0" lang="en-US" altLang="en-US" sz="2000" b="0" i="0" u="none" strike="noStrike" cap="none" normalizeH="0" baseline="0" dirty="0">
                <a:ln>
                  <a:noFill/>
                </a:ln>
                <a:effectLst/>
                <a:latin typeface="Arial Unicode MS"/>
              </a:rPr>
              <a:t>120, 85, 95</a:t>
            </a:r>
            <a:r>
              <a:rPr kumimoji="0" lang="en-US" altLang="en-US" sz="2000" b="0" i="0" u="none" strike="noStrike" cap="none" normalizeH="0" baseline="0" dirty="0">
                <a:ln>
                  <a:noFill/>
                </a:ln>
                <a:effectLst/>
              </a:rPr>
              <a:t> or names like </a:t>
            </a:r>
            <a:r>
              <a:rPr kumimoji="0" lang="en-US" altLang="en-US" sz="2000" b="0" i="0" u="none" strike="noStrike" cap="none" normalizeH="0" baseline="0" dirty="0">
                <a:ln>
                  <a:noFill/>
                </a:ln>
                <a:effectLst/>
                <a:latin typeface="Arial Unicode MS"/>
              </a:rPr>
              <a:t>John, Sarah, Lisa</a:t>
            </a:r>
            <a:r>
              <a:rPr kumimoji="0" lang="en-US" altLang="en-US" sz="2000" b="0" i="0" u="none" strike="noStrike" cap="none" normalizeH="0" baseline="0" dirty="0">
                <a:ln>
                  <a:noFill/>
                </a:ln>
                <a:effectLst/>
              </a:rPr>
              <a:t> are data.</a:t>
            </a:r>
            <a:endParaRPr kumimoji="0" lang="en-US" altLang="en-US" sz="2000" b="0" i="0" u="none" strike="noStrike" cap="none" normalizeH="0" baseline="0" dirty="0">
              <a:ln>
                <a:noFill/>
              </a:ln>
              <a:effectLst/>
              <a:latin typeface="Arial" panose="020B0604020202020204" pitchFamily="34" charset="0"/>
            </a:endParaRPr>
          </a:p>
        </p:txBody>
      </p:sp>
      <p:sp>
        <p:nvSpPr>
          <p:cNvPr id="3" name="Rectangle 2">
            <a:extLst>
              <a:ext uri="{FF2B5EF4-FFF2-40B4-BE49-F238E27FC236}">
                <a16:creationId xmlns:a16="http://schemas.microsoft.com/office/drawing/2014/main" id="{64CFFC6B-2402-6370-C750-565B31E94BE6}"/>
              </a:ext>
            </a:extLst>
          </p:cNvPr>
          <p:cNvSpPr>
            <a:spLocks noChangeArrowheads="1"/>
          </p:cNvSpPr>
          <p:nvPr/>
        </p:nvSpPr>
        <p:spPr bwMode="auto">
          <a:xfrm>
            <a:off x="530942" y="3867005"/>
            <a:ext cx="1105145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Information :</a:t>
            </a:r>
            <a:r>
              <a:rPr kumimoji="0" lang="en-US" altLang="en-US" sz="2000" i="0" u="none" strike="noStrike" cap="none" normalizeH="0" baseline="0" dirty="0">
                <a:ln>
                  <a:noFill/>
                </a:ln>
                <a:effectLst/>
                <a:latin typeface="Arial" panose="020B0604020202020204" pitchFamily="34" charset="0"/>
              </a:rPr>
              <a:t> Information</a:t>
            </a:r>
            <a:r>
              <a:rPr kumimoji="0" lang="en-US" altLang="en-US" sz="2000" b="0" i="0" u="none" strike="noStrike" cap="none" normalizeH="0" baseline="0" dirty="0">
                <a:ln>
                  <a:noFill/>
                </a:ln>
                <a:effectLst/>
                <a:latin typeface="Arial" panose="020B0604020202020204" pitchFamily="34" charset="0"/>
              </a:rPr>
              <a:t> is data that has been processed, organized, or analyzed to give it meaning and context, making it useful for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Arial" panose="020B0604020202020204" pitchFamily="34" charset="0"/>
              </a:rPr>
              <a:t>	</a:t>
            </a:r>
            <a:r>
              <a:rPr kumimoji="0" lang="en-US" altLang="en-US" sz="2000" i="0" u="none" strike="noStrike" cap="none" normalizeH="0" baseline="0" dirty="0">
                <a:ln>
                  <a:noFill/>
                </a:ln>
                <a:effectLst/>
                <a:latin typeface="Arial" panose="020B0604020202020204" pitchFamily="34" charset="0"/>
              </a:rPr>
              <a:t>Example: </a:t>
            </a:r>
            <a:r>
              <a:rPr kumimoji="0" lang="en-US" altLang="en-US" sz="2000" b="0" i="0" u="none" strike="noStrike" cap="none" normalizeH="0" baseline="0" dirty="0">
                <a:ln>
                  <a:noFill/>
                </a:ln>
                <a:effectLst/>
                <a:latin typeface="Arial" panose="020B0604020202020204" pitchFamily="34" charset="0"/>
              </a:rPr>
              <a:t>From raw sales numbers </a:t>
            </a:r>
            <a:r>
              <a:rPr kumimoji="0" lang="en-US" altLang="en-US" sz="2000" b="0" i="0" u="none" strike="noStrike" cap="none" normalizeH="0" baseline="0" dirty="0">
                <a:ln>
                  <a:noFill/>
                </a:ln>
                <a:effectLst/>
                <a:latin typeface="Arial Unicode MS"/>
              </a:rPr>
              <a:t>120, 85, 95</a:t>
            </a:r>
            <a:r>
              <a:rPr kumimoji="0" lang="en-US" altLang="en-US" sz="2000" b="0" i="0" u="none" strike="noStrike" cap="none" normalizeH="0" baseline="0" dirty="0">
                <a:ln>
                  <a:noFill/>
                </a:ln>
                <a:effectLst/>
              </a:rPr>
              <a:t>, we can generate information : “Total sales this week were 300 units, showing a 10% increase from last week.”</a:t>
            </a:r>
            <a:endParaRPr kumimoji="0" lang="en-US" altLang="en-US" sz="2000" b="0" u="none" strike="noStrike" cap="none" normalizeH="0" baseline="0" dirty="0">
              <a:ln>
                <a:noFill/>
              </a:ln>
              <a:effectLst/>
              <a:latin typeface="Arial" panose="020B0604020202020204" pitchFamily="34" charset="0"/>
            </a:endParaRPr>
          </a:p>
        </p:txBody>
      </p:sp>
      <p:sp>
        <p:nvSpPr>
          <p:cNvPr id="4" name="TextBox 3">
            <a:extLst>
              <a:ext uri="{FF2B5EF4-FFF2-40B4-BE49-F238E27FC236}">
                <a16:creationId xmlns:a16="http://schemas.microsoft.com/office/drawing/2014/main" id="{E11AAEA2-293E-B824-6DB7-AB38555614F1}"/>
              </a:ext>
            </a:extLst>
          </p:cNvPr>
          <p:cNvSpPr txBox="1"/>
          <p:nvPr/>
        </p:nvSpPr>
        <p:spPr>
          <a:xfrm>
            <a:off x="3215148" y="775004"/>
            <a:ext cx="5761703" cy="584775"/>
          </a:xfrm>
          <a:prstGeom prst="rect">
            <a:avLst/>
          </a:prstGeom>
          <a:noFill/>
        </p:spPr>
        <p:txBody>
          <a:bodyPr wrap="square" rtlCol="0">
            <a:spAutoFit/>
          </a:bodyPr>
          <a:lstStyle/>
          <a:p>
            <a:r>
              <a:rPr lang="en-US" sz="3200" dirty="0">
                <a:latin typeface="Gill Sans MT" panose="020B0502020104020203" pitchFamily="34" charset="0"/>
              </a:rPr>
              <a:t>DATA VS INFORMATION</a:t>
            </a:r>
            <a:endParaRPr lang="en-IN" sz="3200" dirty="0">
              <a:latin typeface="Gill Sans MT" panose="020B0502020104020203" pitchFamily="34" charset="0"/>
            </a:endParaRPr>
          </a:p>
        </p:txBody>
      </p:sp>
    </p:spTree>
    <p:extLst>
      <p:ext uri="{BB962C8B-B14F-4D97-AF65-F5344CB8AC3E}">
        <p14:creationId xmlns:p14="http://schemas.microsoft.com/office/powerpoint/2010/main" val="3587832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1016AA-0749-82AF-24C9-1C59B64AAF04}"/>
              </a:ext>
            </a:extLst>
          </p:cNvPr>
          <p:cNvSpPr>
            <a:spLocks noChangeArrowheads="1"/>
          </p:cNvSpPr>
          <p:nvPr/>
        </p:nvSpPr>
        <p:spPr bwMode="auto">
          <a:xfrm>
            <a:off x="825912" y="1074509"/>
            <a:ext cx="963561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Distinguishing Raw Data from Processed Information: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Raw Data:</a:t>
            </a:r>
            <a:endParaRPr kumimoji="0" lang="en-US" altLang="en-US" sz="2000"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Unorganized, unprocessed facts.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Has no immediate meaning on its own.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Example: </a:t>
            </a:r>
            <a:r>
              <a:rPr kumimoji="0" lang="en-US" altLang="en-US" sz="2000" b="0" i="0" u="none" strike="noStrike" cap="none" normalizeH="0" baseline="0" dirty="0">
                <a:ln>
                  <a:noFill/>
                </a:ln>
                <a:effectLst/>
                <a:latin typeface="Arial Unicode MS"/>
              </a:rPr>
              <a:t>100, 200, 150</a:t>
            </a:r>
            <a:r>
              <a:rPr kumimoji="0" lang="en-US" altLang="en-US" sz="2000" b="0" i="0" u="none" strike="noStrike" cap="none" normalizeH="0" baseline="0" dirty="0">
                <a:ln>
                  <a:noFill/>
                </a:ln>
                <a:effectLst/>
              </a:rPr>
              <a:t> (sales numbers).</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Processed Information:</a:t>
            </a:r>
            <a:endParaRPr kumimoji="0" lang="en-US" altLang="en-US" sz="2000"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Data that has been analyzed or structured.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Provides meaning and supports decisions.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Arial" panose="020B0604020202020204" pitchFamily="34" charset="0"/>
              </a:rPr>
              <a:t>Example: “Sales increased by 10% this month compared to last month.”</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Arial" panose="020B0604020202020204" pitchFamily="34" charset="0"/>
              </a:rPr>
              <a:t>Key Difference:</a:t>
            </a:r>
            <a:r>
              <a:rPr kumimoji="0" lang="en-US" altLang="en-US" sz="2000" b="0" i="0" u="none" strike="noStrike" cap="none" normalizeH="0" baseline="0" dirty="0">
                <a:ln>
                  <a:noFill/>
                </a:ln>
                <a:effectLst/>
                <a:latin typeface="Arial" panose="020B0604020202020204" pitchFamily="34" charset="0"/>
              </a:rPr>
              <a:t> Raw data is the input; processed information is the meaningful output used for decision-making.</a:t>
            </a:r>
          </a:p>
        </p:txBody>
      </p:sp>
    </p:spTree>
    <p:extLst>
      <p:ext uri="{BB962C8B-B14F-4D97-AF65-F5344CB8AC3E}">
        <p14:creationId xmlns:p14="http://schemas.microsoft.com/office/powerpoint/2010/main" val="2941449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93CC390-8C55-C931-D568-9C4CDDEF4387}"/>
              </a:ext>
            </a:extLst>
          </p:cNvPr>
          <p:cNvSpPr txBox="1"/>
          <p:nvPr/>
        </p:nvSpPr>
        <p:spPr>
          <a:xfrm>
            <a:off x="1302774" y="3018504"/>
            <a:ext cx="9586452" cy="2677656"/>
          </a:xfrm>
          <a:prstGeom prst="rect">
            <a:avLst/>
          </a:prstGeom>
          <a:noFill/>
        </p:spPr>
        <p:txBody>
          <a:bodyPr wrap="square" rtlCol="0">
            <a:spAutoFit/>
          </a:bodyPr>
          <a:lstStyle/>
          <a:p>
            <a:r>
              <a:rPr lang="en-US" sz="2400" b="1" dirty="0"/>
              <a:t>Data:</a:t>
            </a:r>
            <a:r>
              <a:rPr lang="en-US" sz="2400" dirty="0"/>
              <a:t> Raw facts are collected from various sources without any context.</a:t>
            </a:r>
          </a:p>
          <a:p>
            <a:endParaRPr lang="en-US" sz="2400" dirty="0"/>
          </a:p>
          <a:p>
            <a:r>
              <a:rPr lang="en-US" sz="2400" b="1" dirty="0"/>
              <a:t>Information:</a:t>
            </a:r>
            <a:r>
              <a:rPr lang="en-US" sz="2400" dirty="0"/>
              <a:t> Collected data is processed and analyzed to give it meaning.</a:t>
            </a:r>
          </a:p>
          <a:p>
            <a:endParaRPr lang="en-US" sz="2400" dirty="0"/>
          </a:p>
          <a:p>
            <a:r>
              <a:rPr lang="en-US" sz="2400" b="1" dirty="0"/>
              <a:t>Knowledge:</a:t>
            </a:r>
            <a:r>
              <a:rPr lang="en-US" sz="2400" dirty="0"/>
              <a:t> Meaningful information is interpreted and applied to support decisions and actions.</a:t>
            </a:r>
          </a:p>
          <a:p>
            <a:endParaRPr lang="en-IN" sz="2400" dirty="0">
              <a:solidFill>
                <a:schemeClr val="accent5">
                  <a:lumMod val="75000"/>
                </a:schemeClr>
              </a:solidFill>
            </a:endParaRPr>
          </a:p>
        </p:txBody>
      </p:sp>
      <p:sp>
        <p:nvSpPr>
          <p:cNvPr id="8" name="TextBox 7">
            <a:extLst>
              <a:ext uri="{FF2B5EF4-FFF2-40B4-BE49-F238E27FC236}">
                <a16:creationId xmlns:a16="http://schemas.microsoft.com/office/drawing/2014/main" id="{413C2519-3F9A-5B26-2185-F8DC3539BF1C}"/>
              </a:ext>
            </a:extLst>
          </p:cNvPr>
          <p:cNvSpPr txBox="1"/>
          <p:nvPr/>
        </p:nvSpPr>
        <p:spPr>
          <a:xfrm>
            <a:off x="1302774" y="1161840"/>
            <a:ext cx="6602361" cy="646331"/>
          </a:xfrm>
          <a:prstGeom prst="rect">
            <a:avLst/>
          </a:prstGeom>
          <a:noFill/>
        </p:spPr>
        <p:txBody>
          <a:bodyPr wrap="square" rtlCol="0">
            <a:spAutoFit/>
          </a:bodyPr>
          <a:lstStyle/>
          <a:p>
            <a:r>
              <a:rPr lang="en-US" sz="3600" dirty="0">
                <a:latin typeface="Gill Sans MT" panose="020B0502020104020203" pitchFamily="34" charset="0"/>
              </a:rPr>
              <a:t>TRANSFORMATION PROCESS :</a:t>
            </a:r>
            <a:endParaRPr lang="en-IN" sz="3600" dirty="0">
              <a:latin typeface="Gill Sans MT" panose="020B0502020104020203" pitchFamily="34" charset="0"/>
            </a:endParaRPr>
          </a:p>
        </p:txBody>
      </p:sp>
      <p:sp>
        <p:nvSpPr>
          <p:cNvPr id="2" name="TextBox 1">
            <a:extLst>
              <a:ext uri="{FF2B5EF4-FFF2-40B4-BE49-F238E27FC236}">
                <a16:creationId xmlns:a16="http://schemas.microsoft.com/office/drawing/2014/main" id="{B04B641D-BD5B-18FE-3141-60597CE69900}"/>
              </a:ext>
            </a:extLst>
          </p:cNvPr>
          <p:cNvSpPr txBox="1"/>
          <p:nvPr/>
        </p:nvSpPr>
        <p:spPr>
          <a:xfrm>
            <a:off x="2984090" y="2182505"/>
            <a:ext cx="6440129" cy="461665"/>
          </a:xfrm>
          <a:prstGeom prst="rect">
            <a:avLst/>
          </a:prstGeom>
          <a:noFill/>
        </p:spPr>
        <p:txBody>
          <a:bodyPr wrap="square" rtlCol="0">
            <a:spAutoFit/>
          </a:bodyPr>
          <a:lstStyle/>
          <a:p>
            <a:r>
              <a:rPr lang="en-US" sz="2400" dirty="0">
                <a:solidFill>
                  <a:schemeClr val="accent5">
                    <a:lumMod val="75000"/>
                  </a:schemeClr>
                </a:solidFill>
              </a:rPr>
              <a:t>Data -&gt; Information -&gt; Knowledge</a:t>
            </a:r>
            <a:endParaRPr lang="en-IN" sz="2400" dirty="0">
              <a:solidFill>
                <a:schemeClr val="accent5">
                  <a:lumMod val="75000"/>
                </a:schemeClr>
              </a:solidFill>
            </a:endParaRPr>
          </a:p>
        </p:txBody>
      </p:sp>
    </p:spTree>
    <p:extLst>
      <p:ext uri="{BB962C8B-B14F-4D97-AF65-F5344CB8AC3E}">
        <p14:creationId xmlns:p14="http://schemas.microsoft.com/office/powerpoint/2010/main" val="1327638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C6DD31-5C82-D470-98B1-E7D7945CA4DC}"/>
              </a:ext>
            </a:extLst>
          </p:cNvPr>
          <p:cNvSpPr txBox="1"/>
          <p:nvPr/>
        </p:nvSpPr>
        <p:spPr>
          <a:xfrm>
            <a:off x="1017638" y="2851355"/>
            <a:ext cx="10156723" cy="2554545"/>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000" b="1" dirty="0">
                <a:latin typeface="Arial" panose="020B0604020202020204" pitchFamily="34" charset="0"/>
              </a:rPr>
              <a:t>Reduces uncertainty:</a:t>
            </a:r>
            <a:r>
              <a:rPr lang="en-US" altLang="en-US" sz="2000" dirty="0">
                <a:latin typeface="Arial" panose="020B0604020202020204" pitchFamily="34" charset="0"/>
              </a:rPr>
              <a:t> Information provides clarity by replacing guesswork with facts and evidence.</a:t>
            </a:r>
          </a:p>
          <a:p>
            <a:pPr lvl="0" defTabSz="914400" eaLnBrk="0" fontAlgn="base" hangingPunct="0">
              <a:spcBef>
                <a:spcPct val="0"/>
              </a:spcBef>
              <a:spcAft>
                <a:spcPct val="0"/>
              </a:spcAft>
            </a:pPr>
            <a:endParaRPr lang="en-US" altLang="en-US" sz="2000" dirty="0">
              <a:latin typeface="Arial" panose="020B0604020202020204" pitchFamily="34" charset="0"/>
            </a:endParaRPr>
          </a:p>
          <a:p>
            <a:pPr lvl="0" defTabSz="914400" eaLnBrk="0" fontAlgn="base" hangingPunct="0">
              <a:spcBef>
                <a:spcPct val="0"/>
              </a:spcBef>
              <a:spcAft>
                <a:spcPct val="0"/>
              </a:spcAft>
            </a:pPr>
            <a:r>
              <a:rPr lang="en-US" altLang="en-US" sz="2000" b="1" dirty="0">
                <a:latin typeface="Arial" panose="020B0604020202020204" pitchFamily="34" charset="0"/>
              </a:rPr>
              <a:t>Improves accuracy:</a:t>
            </a:r>
            <a:r>
              <a:rPr lang="en-US" altLang="en-US" sz="2000" dirty="0">
                <a:latin typeface="Arial" panose="020B0604020202020204" pitchFamily="34" charset="0"/>
              </a:rPr>
              <a:t> Decisions become more precise when based on reliable and relevant information.</a:t>
            </a:r>
          </a:p>
          <a:p>
            <a:pPr lvl="0" defTabSz="914400" eaLnBrk="0" fontAlgn="base" hangingPunct="0">
              <a:spcBef>
                <a:spcPct val="0"/>
              </a:spcBef>
              <a:spcAft>
                <a:spcPct val="0"/>
              </a:spcAft>
            </a:pPr>
            <a:endParaRPr lang="en-US" altLang="en-US" sz="2000" dirty="0">
              <a:latin typeface="Arial" panose="020B0604020202020204" pitchFamily="34" charset="0"/>
            </a:endParaRPr>
          </a:p>
          <a:p>
            <a:pPr lvl="0" defTabSz="914400" eaLnBrk="0" fontAlgn="base" hangingPunct="0">
              <a:spcBef>
                <a:spcPct val="0"/>
              </a:spcBef>
              <a:spcAft>
                <a:spcPct val="0"/>
              </a:spcAft>
            </a:pPr>
            <a:r>
              <a:rPr lang="en-US" altLang="en-US" sz="2000" b="1" dirty="0">
                <a:latin typeface="Arial" panose="020B0604020202020204" pitchFamily="34" charset="0"/>
              </a:rPr>
              <a:t>Supports strategic planning:</a:t>
            </a:r>
            <a:r>
              <a:rPr lang="en-US" altLang="en-US" sz="2000" dirty="0">
                <a:latin typeface="Arial" panose="020B0604020202020204" pitchFamily="34" charset="0"/>
              </a:rPr>
              <a:t> Information helps organizations set goals, forecast trends, and plan effectively.</a:t>
            </a:r>
          </a:p>
        </p:txBody>
      </p:sp>
      <p:sp>
        <p:nvSpPr>
          <p:cNvPr id="9" name="TextBox 8">
            <a:extLst>
              <a:ext uri="{FF2B5EF4-FFF2-40B4-BE49-F238E27FC236}">
                <a16:creationId xmlns:a16="http://schemas.microsoft.com/office/drawing/2014/main" id="{38E9A6F6-4F87-71C6-1BC6-580804C24EEC}"/>
              </a:ext>
            </a:extLst>
          </p:cNvPr>
          <p:cNvSpPr txBox="1"/>
          <p:nvPr/>
        </p:nvSpPr>
        <p:spPr>
          <a:xfrm>
            <a:off x="919315" y="971246"/>
            <a:ext cx="9925665" cy="584775"/>
          </a:xfrm>
          <a:prstGeom prst="rect">
            <a:avLst/>
          </a:prstGeom>
          <a:noFill/>
        </p:spPr>
        <p:txBody>
          <a:bodyPr wrap="square" rtlCol="0">
            <a:spAutoFit/>
          </a:bodyPr>
          <a:lstStyle/>
          <a:p>
            <a:r>
              <a:rPr lang="en-US" sz="3200" dirty="0">
                <a:latin typeface="Gill Sans MT" panose="020B0502020104020203" pitchFamily="34" charset="0"/>
              </a:rPr>
              <a:t>VALUE OF INFORMATION IN DECISION MAKING </a:t>
            </a:r>
            <a:r>
              <a:rPr lang="en-US" sz="3200" dirty="0">
                <a:solidFill>
                  <a:schemeClr val="accent5">
                    <a:lumMod val="75000"/>
                  </a:schemeClr>
                </a:solidFill>
                <a:latin typeface="Arial Black" panose="020B0A04020102020204" pitchFamily="34" charset="0"/>
              </a:rPr>
              <a:t>:</a:t>
            </a:r>
            <a:endParaRPr lang="en-IN" sz="3200" dirty="0">
              <a:solidFill>
                <a:schemeClr val="accent5">
                  <a:lumMod val="75000"/>
                </a:schemeClr>
              </a:solidFill>
              <a:latin typeface="Arial Black" panose="020B0A04020102020204" pitchFamily="34" charset="0"/>
            </a:endParaRPr>
          </a:p>
        </p:txBody>
      </p:sp>
    </p:spTree>
    <p:extLst>
      <p:ext uri="{BB962C8B-B14F-4D97-AF65-F5344CB8AC3E}">
        <p14:creationId xmlns:p14="http://schemas.microsoft.com/office/powerpoint/2010/main" val="3789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3860159A-23EA-33DC-77C7-0563243764A8}"/>
              </a:ext>
            </a:extLst>
          </p:cNvPr>
          <p:cNvSpPr txBox="1"/>
          <p:nvPr/>
        </p:nvSpPr>
        <p:spPr>
          <a:xfrm>
            <a:off x="1189702" y="2898424"/>
            <a:ext cx="8632723"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Decisions based on facts:</a:t>
            </a:r>
            <a:r>
              <a:rPr kumimoji="0" lang="en-US" altLang="en-US" sz="2000" b="0" i="0" u="none" strike="noStrike" cap="none" normalizeH="0" baseline="0" dirty="0">
                <a:ln>
                  <a:noFill/>
                </a:ln>
                <a:effectLst/>
                <a:latin typeface="Arial" panose="020B0604020202020204" pitchFamily="34" charset="0"/>
              </a:rPr>
              <a:t> choices are made using verified data rather than assumptions or intuition.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Use of analytics:</a:t>
            </a:r>
            <a:r>
              <a:rPr kumimoji="0" lang="en-US" altLang="en-US" sz="2000" b="0" i="0" u="none" strike="noStrike" cap="none" normalizeH="0" baseline="0" dirty="0">
                <a:ln>
                  <a:noFill/>
                </a:ln>
                <a:effectLst/>
                <a:latin typeface="Arial" panose="020B0604020202020204" pitchFamily="34" charset="0"/>
              </a:rPr>
              <a:t> analytical tools are applied to identify patterns, trends, and insights from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Objective decision-making:</a:t>
            </a:r>
            <a:r>
              <a:rPr kumimoji="0" lang="en-US" altLang="en-US" sz="2000" b="0" i="0" u="none" strike="noStrike" cap="none" normalizeH="0" baseline="0" dirty="0">
                <a:ln>
                  <a:noFill/>
                </a:ln>
                <a:effectLst/>
                <a:latin typeface="Arial" panose="020B0604020202020204" pitchFamily="34" charset="0"/>
              </a:rPr>
              <a:t> decisions remain unbiased and consistent by relying on measurable evidence.</a:t>
            </a:r>
          </a:p>
        </p:txBody>
      </p:sp>
      <p:sp>
        <p:nvSpPr>
          <p:cNvPr id="16" name="TextBox 15">
            <a:extLst>
              <a:ext uri="{FF2B5EF4-FFF2-40B4-BE49-F238E27FC236}">
                <a16:creationId xmlns:a16="http://schemas.microsoft.com/office/drawing/2014/main" id="{21A3D2D6-B2E1-1E77-FE2D-54F30797449B}"/>
              </a:ext>
            </a:extLst>
          </p:cNvPr>
          <p:cNvSpPr txBox="1"/>
          <p:nvPr/>
        </p:nvSpPr>
        <p:spPr>
          <a:xfrm>
            <a:off x="1189702" y="1143421"/>
            <a:ext cx="9674943" cy="523220"/>
          </a:xfrm>
          <a:prstGeom prst="rect">
            <a:avLst/>
          </a:prstGeom>
          <a:noFill/>
        </p:spPr>
        <p:txBody>
          <a:bodyPr wrap="square" rtlCol="0">
            <a:spAutoFit/>
          </a:bodyPr>
          <a:lstStyle/>
          <a:p>
            <a:r>
              <a:rPr lang="en-US" sz="2800" dirty="0">
                <a:latin typeface="Gill Sans MT" panose="020B0502020104020203" pitchFamily="34" charset="0"/>
              </a:rPr>
              <a:t>PRINCIPLES OF  DATA-DRIVEN DECISION MAKING</a:t>
            </a:r>
          </a:p>
        </p:txBody>
      </p:sp>
    </p:spTree>
    <p:extLst>
      <p:ext uri="{BB962C8B-B14F-4D97-AF65-F5344CB8AC3E}">
        <p14:creationId xmlns:p14="http://schemas.microsoft.com/office/powerpoint/2010/main" val="2836886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a:extLst>
              <a:ext uri="{FF2B5EF4-FFF2-40B4-BE49-F238E27FC236}">
                <a16:creationId xmlns:a16="http://schemas.microsoft.com/office/drawing/2014/main" id="{8557F0D0-4499-E68E-437E-870E01BDC002}"/>
              </a:ext>
            </a:extLst>
          </p:cNvPr>
          <p:cNvSpPr>
            <a:spLocks noChangeArrowheads="1"/>
          </p:cNvSpPr>
          <p:nvPr/>
        </p:nvSpPr>
        <p:spPr bwMode="auto">
          <a:xfrm>
            <a:off x="649351" y="2454071"/>
            <a:ext cx="1042177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Better business performance:</a:t>
            </a:r>
            <a:r>
              <a:rPr kumimoji="0" lang="en-US" altLang="en-US" sz="2000" b="0" i="0" u="none" strike="noStrike" cap="none" normalizeH="0" baseline="0" dirty="0">
                <a:ln>
                  <a:noFill/>
                </a:ln>
                <a:effectLst/>
                <a:latin typeface="Arial" panose="020B0604020202020204" pitchFamily="34" charset="0"/>
              </a:rPr>
              <a:t> Data helps identify opportunities and optimize processes, leading to improved results.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Reduced risk:</a:t>
            </a:r>
            <a:r>
              <a:rPr kumimoji="0" lang="en-US" altLang="en-US" sz="2000" b="0" i="0" u="none" strike="noStrike" cap="none" normalizeH="0" baseline="0" dirty="0">
                <a:ln>
                  <a:noFill/>
                </a:ln>
                <a:effectLst/>
                <a:latin typeface="Arial" panose="020B0604020202020204" pitchFamily="34" charset="0"/>
              </a:rPr>
              <a:t> Informed decisions lower uncertainty and help anticipate potential problems.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Improved efficiency:</a:t>
            </a:r>
            <a:r>
              <a:rPr kumimoji="0" lang="en-US" altLang="en-US" sz="2000" b="0" i="0" u="none" strike="noStrike" cap="none" normalizeH="0" baseline="0" dirty="0">
                <a:ln>
                  <a:noFill/>
                </a:ln>
                <a:effectLst/>
                <a:latin typeface="Arial" panose="020B0604020202020204" pitchFamily="34" charset="0"/>
              </a:rPr>
              <a:t> Data highlights inefficiencies and enables smarter use of resources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a:t>
            </a:r>
          </a:p>
        </p:txBody>
      </p:sp>
      <p:sp>
        <p:nvSpPr>
          <p:cNvPr id="16" name="TextBox 15">
            <a:extLst>
              <a:ext uri="{FF2B5EF4-FFF2-40B4-BE49-F238E27FC236}">
                <a16:creationId xmlns:a16="http://schemas.microsoft.com/office/drawing/2014/main" id="{D7369E6C-ACDB-E56A-5793-DD5C401A1793}"/>
              </a:ext>
            </a:extLst>
          </p:cNvPr>
          <p:cNvSpPr txBox="1"/>
          <p:nvPr/>
        </p:nvSpPr>
        <p:spPr>
          <a:xfrm>
            <a:off x="649351" y="1160207"/>
            <a:ext cx="8769952" cy="584775"/>
          </a:xfrm>
          <a:prstGeom prst="rect">
            <a:avLst/>
          </a:prstGeom>
          <a:noFill/>
        </p:spPr>
        <p:txBody>
          <a:bodyPr wrap="square" rtlCol="0">
            <a:spAutoFit/>
          </a:bodyPr>
          <a:lstStyle/>
          <a:p>
            <a:r>
              <a:rPr lang="en-US" sz="3200" dirty="0">
                <a:latin typeface="Gill Sans MT" panose="020B0502020104020203" pitchFamily="34" charset="0"/>
              </a:rPr>
              <a:t>BENEFITS OF USING DATA FOR DECISIONS</a:t>
            </a:r>
            <a:endParaRPr lang="en-IN" sz="3200" dirty="0">
              <a:latin typeface="Gill Sans MT" panose="020B0502020104020203" pitchFamily="34" charset="0"/>
            </a:endParaRPr>
          </a:p>
        </p:txBody>
      </p:sp>
    </p:spTree>
    <p:extLst>
      <p:ext uri="{BB962C8B-B14F-4D97-AF65-F5344CB8AC3E}">
        <p14:creationId xmlns:p14="http://schemas.microsoft.com/office/powerpoint/2010/main" val="1860649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55F94A7F-729E-9920-FC3C-6A53697190BB}"/>
              </a:ext>
            </a:extLst>
          </p:cNvPr>
          <p:cNvSpPr>
            <a:spLocks noChangeArrowheads="1"/>
          </p:cNvSpPr>
          <p:nvPr/>
        </p:nvSpPr>
        <p:spPr bwMode="auto">
          <a:xfrm>
            <a:off x="724978" y="2515004"/>
            <a:ext cx="1013966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effectLst/>
                <a:latin typeface="Arial" panose="020B0604020202020204" pitchFamily="34" charset="0"/>
              </a:rPr>
              <a:t>Define the problem:</a:t>
            </a:r>
            <a:r>
              <a:rPr kumimoji="0" lang="en-US" altLang="en-US" sz="2000" b="0" i="0" u="none" strike="noStrike" cap="none" normalizeH="0" baseline="0" dirty="0">
                <a:ln>
                  <a:noFill/>
                </a:ln>
                <a:effectLst/>
                <a:latin typeface="Arial" panose="020B0604020202020204" pitchFamily="34" charset="0"/>
              </a:rPr>
              <a:t> Clearly identify the issue or goal to focus the decision-making process.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effectLst/>
                <a:latin typeface="Arial" panose="020B0604020202020204" pitchFamily="34" charset="0"/>
              </a:rPr>
              <a:t>Collect data:</a:t>
            </a:r>
            <a:r>
              <a:rPr kumimoji="0" lang="en-US" altLang="en-US" sz="2000" b="0" i="0" u="none" strike="noStrike" cap="none" normalizeH="0" baseline="0" dirty="0">
                <a:ln>
                  <a:noFill/>
                </a:ln>
                <a:effectLst/>
                <a:latin typeface="Arial" panose="020B0604020202020204" pitchFamily="34" charset="0"/>
              </a:rPr>
              <a:t> Gather relevant and reliable data related to the problem.</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effectLst/>
                <a:latin typeface="Arial" panose="020B0604020202020204" pitchFamily="34" charset="0"/>
              </a:rPr>
              <a:t>Analyze data:</a:t>
            </a:r>
            <a:r>
              <a:rPr kumimoji="0" lang="en-US" altLang="en-US" sz="2000" b="0" i="0" u="none" strike="noStrike" cap="none" normalizeH="0" baseline="0" dirty="0">
                <a:ln>
                  <a:noFill/>
                </a:ln>
                <a:effectLst/>
                <a:latin typeface="Arial" panose="020B0604020202020204" pitchFamily="34" charset="0"/>
              </a:rPr>
              <a:t> Examine the data to discover patterns, trends, and insights.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effectLst/>
                <a:latin typeface="Arial" panose="020B0604020202020204" pitchFamily="34" charset="0"/>
              </a:rPr>
              <a:t>Take action:</a:t>
            </a:r>
            <a:r>
              <a:rPr kumimoji="0" lang="en-US" altLang="en-US" sz="2000" b="0" i="0" u="none" strike="noStrike" cap="none" normalizeH="0" baseline="0" dirty="0">
                <a:ln>
                  <a:noFill/>
                </a:ln>
                <a:effectLst/>
                <a:latin typeface="Arial" panose="020B0604020202020204" pitchFamily="34" charset="0"/>
              </a:rPr>
              <a:t> Use insights to make informed decisions and implement solutions.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11" name="TextBox 10">
            <a:extLst>
              <a:ext uri="{FF2B5EF4-FFF2-40B4-BE49-F238E27FC236}">
                <a16:creationId xmlns:a16="http://schemas.microsoft.com/office/drawing/2014/main" id="{4AD073F7-CFA5-2AE2-FDFC-8CDD8B7176CA}"/>
              </a:ext>
            </a:extLst>
          </p:cNvPr>
          <p:cNvSpPr txBox="1"/>
          <p:nvPr/>
        </p:nvSpPr>
        <p:spPr>
          <a:xfrm>
            <a:off x="724978" y="1209367"/>
            <a:ext cx="9008956" cy="584775"/>
          </a:xfrm>
          <a:prstGeom prst="rect">
            <a:avLst/>
          </a:prstGeom>
          <a:noFill/>
        </p:spPr>
        <p:txBody>
          <a:bodyPr wrap="square" rtlCol="0">
            <a:spAutoFit/>
          </a:bodyPr>
          <a:lstStyle/>
          <a:p>
            <a:r>
              <a:rPr lang="en-US" sz="3200" dirty="0">
                <a:latin typeface="Gill Sans MT" panose="020B0502020104020203" pitchFamily="34" charset="0"/>
              </a:rPr>
              <a:t>STEPS IN DATA-DRIVEN DECISION PROCESS</a:t>
            </a:r>
            <a:endParaRPr lang="en-IN" sz="3200" dirty="0">
              <a:latin typeface="Gill Sans MT" panose="020B0502020104020203" pitchFamily="34" charset="0"/>
            </a:endParaRPr>
          </a:p>
        </p:txBody>
      </p:sp>
    </p:spTree>
    <p:extLst>
      <p:ext uri="{BB962C8B-B14F-4D97-AF65-F5344CB8AC3E}">
        <p14:creationId xmlns:p14="http://schemas.microsoft.com/office/powerpoint/2010/main" val="2970464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68A33F0E-5B0A-C4C8-831D-F37B1E6FB3B1}"/>
              </a:ext>
            </a:extLst>
          </p:cNvPr>
          <p:cNvSpPr>
            <a:spLocks noChangeArrowheads="1"/>
          </p:cNvSpPr>
          <p:nvPr/>
        </p:nvSpPr>
        <p:spPr bwMode="auto">
          <a:xfrm>
            <a:off x="639495" y="2596069"/>
            <a:ext cx="1052011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Poor data quality:</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Inaccurate or incomplete data can lead to wrong conclusions and decisions.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Privacy issues: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Misuse of data can violate regulations and damage trust.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Resistance to change:</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Employees may hesitate to adopt data-driven methods due to habits or lack of skills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8" name="TextBox 7">
            <a:extLst>
              <a:ext uri="{FF2B5EF4-FFF2-40B4-BE49-F238E27FC236}">
                <a16:creationId xmlns:a16="http://schemas.microsoft.com/office/drawing/2014/main" id="{FCF9EAEA-5116-A2E0-0CCC-2F2CCB2788ED}"/>
              </a:ext>
            </a:extLst>
          </p:cNvPr>
          <p:cNvSpPr txBox="1"/>
          <p:nvPr/>
        </p:nvSpPr>
        <p:spPr>
          <a:xfrm>
            <a:off x="639495" y="1553498"/>
            <a:ext cx="10097331" cy="584775"/>
          </a:xfrm>
          <a:prstGeom prst="rect">
            <a:avLst/>
          </a:prstGeom>
          <a:noFill/>
        </p:spPr>
        <p:txBody>
          <a:bodyPr wrap="square" rtlCol="0">
            <a:spAutoFit/>
          </a:bodyPr>
          <a:lstStyle/>
          <a:p>
            <a:r>
              <a:rPr lang="en-US" sz="3200" dirty="0">
                <a:latin typeface="Gill Sans MT" panose="020B0502020104020203" pitchFamily="34" charset="0"/>
              </a:rPr>
              <a:t>CHALLENGES IN DATA-DRIVES DECISION PROCESS</a:t>
            </a:r>
            <a:endParaRPr lang="en-IN" sz="3200" dirty="0">
              <a:latin typeface="Gill Sans MT" panose="020B0502020104020203" pitchFamily="34" charset="0"/>
            </a:endParaRPr>
          </a:p>
        </p:txBody>
      </p:sp>
    </p:spTree>
    <p:extLst>
      <p:ext uri="{BB962C8B-B14F-4D97-AF65-F5344CB8AC3E}">
        <p14:creationId xmlns:p14="http://schemas.microsoft.com/office/powerpoint/2010/main" val="2717993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980E1-657F-E2CB-291E-01F601BBA415}"/>
              </a:ext>
            </a:extLst>
          </p:cNvPr>
          <p:cNvSpPr>
            <a:spLocks noChangeArrowheads="1"/>
          </p:cNvSpPr>
          <p:nvPr/>
        </p:nvSpPr>
        <p:spPr bwMode="auto">
          <a:xfrm>
            <a:off x="586504" y="2603493"/>
            <a:ext cx="1065176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E-commerce recommendations:</a:t>
            </a:r>
            <a:r>
              <a:rPr kumimoji="0" lang="en-US" altLang="en-US" sz="2000" b="0" i="0" u="none" strike="noStrike" cap="none" normalizeH="0" baseline="0" dirty="0">
                <a:ln>
                  <a:noFill/>
                </a:ln>
                <a:effectLst/>
                <a:latin typeface="Arial" panose="020B0604020202020204" pitchFamily="34" charset="0"/>
              </a:rPr>
              <a:t> Customer data is analyzed to suggest relevant products and improve sales.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Banking fraud detection:</a:t>
            </a:r>
            <a:r>
              <a:rPr kumimoji="0" lang="en-US" altLang="en-US" sz="2000" b="0" i="0" u="none" strike="noStrike" cap="none" normalizeH="0" baseline="0" dirty="0">
                <a:ln>
                  <a:noFill/>
                </a:ln>
                <a:effectLst/>
                <a:latin typeface="Arial" panose="020B0604020202020204" pitchFamily="34" charset="0"/>
              </a:rPr>
              <a:t> Transaction data is monitored to identify unusual patterns and prevent fraud.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Arial" panose="020B0604020202020204" pitchFamily="34" charset="0"/>
              </a:rPr>
              <a:t>Healthcare data analysis:</a:t>
            </a:r>
            <a:r>
              <a:rPr kumimoji="0" lang="en-US" altLang="en-US" sz="2000" b="0" i="0" u="none" strike="noStrike" cap="none" normalizeH="0" baseline="0" dirty="0">
                <a:ln>
                  <a:noFill/>
                </a:ln>
                <a:effectLst/>
                <a:latin typeface="Arial" panose="020B0604020202020204" pitchFamily="34" charset="0"/>
              </a:rPr>
              <a:t> Patient data is used to improve diagnosis, treatment, and operational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3" name="TextBox 2">
            <a:extLst>
              <a:ext uri="{FF2B5EF4-FFF2-40B4-BE49-F238E27FC236}">
                <a16:creationId xmlns:a16="http://schemas.microsoft.com/office/drawing/2014/main" id="{4FABC34F-0675-9A54-D9A7-49F8F402D1F6}"/>
              </a:ext>
            </a:extLst>
          </p:cNvPr>
          <p:cNvSpPr txBox="1"/>
          <p:nvPr/>
        </p:nvSpPr>
        <p:spPr>
          <a:xfrm>
            <a:off x="586503" y="1327355"/>
            <a:ext cx="8449342" cy="584775"/>
          </a:xfrm>
          <a:prstGeom prst="rect">
            <a:avLst/>
          </a:prstGeom>
          <a:noFill/>
        </p:spPr>
        <p:txBody>
          <a:bodyPr wrap="square" rtlCol="0">
            <a:spAutoFit/>
          </a:bodyPr>
          <a:lstStyle/>
          <a:p>
            <a:r>
              <a:rPr lang="en-US" sz="3200" dirty="0">
                <a:latin typeface="Gill Sans MT" panose="020B0502020104020203" pitchFamily="34" charset="0"/>
              </a:rPr>
              <a:t>ANALYSIS OF BUSINESS SCENARIOS</a:t>
            </a:r>
            <a:endParaRPr lang="en-IN" sz="3200" dirty="0">
              <a:latin typeface="Gill Sans MT" panose="020B0502020104020203" pitchFamily="34" charset="0"/>
            </a:endParaRPr>
          </a:p>
        </p:txBody>
      </p:sp>
    </p:spTree>
    <p:extLst>
      <p:ext uri="{BB962C8B-B14F-4D97-AF65-F5344CB8AC3E}">
        <p14:creationId xmlns:p14="http://schemas.microsoft.com/office/powerpoint/2010/main" val="13083236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74D986-C81A-468C-91E3-07C9DE5BDBD8}"/>
              </a:ext>
            </a:extLst>
          </p:cNvPr>
          <p:cNvSpPr>
            <a:spLocks noChangeArrowheads="1"/>
          </p:cNvSpPr>
          <p:nvPr/>
        </p:nvSpPr>
        <p:spPr bwMode="auto">
          <a:xfrm>
            <a:off x="670973" y="3436288"/>
            <a:ext cx="106927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3" name="TextBox 2">
            <a:extLst>
              <a:ext uri="{FF2B5EF4-FFF2-40B4-BE49-F238E27FC236}">
                <a16:creationId xmlns:a16="http://schemas.microsoft.com/office/drawing/2014/main" id="{A593CDC8-0D6B-12A1-B919-DF88FB5F9690}"/>
              </a:ext>
            </a:extLst>
          </p:cNvPr>
          <p:cNvSpPr txBox="1"/>
          <p:nvPr/>
        </p:nvSpPr>
        <p:spPr>
          <a:xfrm>
            <a:off x="670973" y="1396180"/>
            <a:ext cx="7325032" cy="584775"/>
          </a:xfrm>
          <a:prstGeom prst="rect">
            <a:avLst/>
          </a:prstGeom>
          <a:noFill/>
        </p:spPr>
        <p:txBody>
          <a:bodyPr wrap="square" rtlCol="0">
            <a:spAutoFit/>
          </a:bodyPr>
          <a:lstStyle/>
          <a:p>
            <a:r>
              <a:rPr lang="en-US" sz="3200" dirty="0">
                <a:latin typeface="+mj-lt"/>
              </a:rPr>
              <a:t>What is Data Governance ?</a:t>
            </a:r>
            <a:endParaRPr lang="en-IN" sz="3200" dirty="0">
              <a:latin typeface="+mj-lt"/>
            </a:endParaRPr>
          </a:p>
        </p:txBody>
      </p:sp>
      <p:sp>
        <p:nvSpPr>
          <p:cNvPr id="5" name="Rectangle 3">
            <a:extLst>
              <a:ext uri="{FF2B5EF4-FFF2-40B4-BE49-F238E27FC236}">
                <a16:creationId xmlns:a16="http://schemas.microsoft.com/office/drawing/2014/main" id="{2C09B498-AB6D-BB05-8280-7639D8B1A020}"/>
              </a:ext>
            </a:extLst>
          </p:cNvPr>
          <p:cNvSpPr>
            <a:spLocks noChangeArrowheads="1"/>
          </p:cNvSpPr>
          <p:nvPr/>
        </p:nvSpPr>
        <p:spPr bwMode="auto">
          <a:xfrm>
            <a:off x="670972" y="2845523"/>
            <a:ext cx="1085005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effectLst/>
                <a:latin typeface="Arial" panose="020B0604020202020204" pitchFamily="34" charset="0"/>
              </a:rPr>
              <a:t>Data governance </a:t>
            </a:r>
            <a:r>
              <a:rPr kumimoji="0" lang="en-US" altLang="en-US" sz="2800" b="0" i="0" u="none" strike="noStrike" cap="none" normalizeH="0" baseline="0" dirty="0">
                <a:ln>
                  <a:noFill/>
                </a:ln>
                <a:effectLst/>
                <a:latin typeface="Arial" panose="020B0604020202020204" pitchFamily="34" charset="0"/>
              </a:rPr>
              <a:t>is a framework of policies, processes, and roles that ensures an organization’s data is accurate, secure, accessible, and used responsibly. It helps maintain data quality, comply with regulations, and supports effective decision-making.</a:t>
            </a:r>
          </a:p>
        </p:txBody>
      </p:sp>
    </p:spTree>
    <p:extLst>
      <p:ext uri="{BB962C8B-B14F-4D97-AF65-F5344CB8AC3E}">
        <p14:creationId xmlns:p14="http://schemas.microsoft.com/office/powerpoint/2010/main" val="2330665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6AE62B-F7C5-1623-183E-85BAF0C4C9BF}"/>
              </a:ext>
            </a:extLst>
          </p:cNvPr>
          <p:cNvSpPr txBox="1"/>
          <p:nvPr/>
        </p:nvSpPr>
        <p:spPr>
          <a:xfrm>
            <a:off x="793821" y="824600"/>
            <a:ext cx="6115664" cy="584775"/>
          </a:xfrm>
          <a:prstGeom prst="rect">
            <a:avLst/>
          </a:prstGeom>
          <a:noFill/>
        </p:spPr>
        <p:txBody>
          <a:bodyPr wrap="square" rtlCol="0">
            <a:spAutoFit/>
          </a:bodyPr>
          <a:lstStyle/>
          <a:p>
            <a:r>
              <a:rPr lang="en-US" sz="3200" dirty="0">
                <a:latin typeface="+mj-lt"/>
              </a:rPr>
              <a:t>POLICIES AND PROCEDURES :</a:t>
            </a:r>
            <a:endParaRPr lang="en-IN" sz="3200" dirty="0">
              <a:latin typeface="+mj-lt"/>
            </a:endParaRPr>
          </a:p>
        </p:txBody>
      </p:sp>
      <p:sp>
        <p:nvSpPr>
          <p:cNvPr id="4" name="Rectangle 2">
            <a:extLst>
              <a:ext uri="{FF2B5EF4-FFF2-40B4-BE49-F238E27FC236}">
                <a16:creationId xmlns:a16="http://schemas.microsoft.com/office/drawing/2014/main" id="{5B91FEEA-2F2E-4C13-CCC3-EA8D5F1D78BC}"/>
              </a:ext>
            </a:extLst>
          </p:cNvPr>
          <p:cNvSpPr>
            <a:spLocks noChangeArrowheads="1"/>
          </p:cNvSpPr>
          <p:nvPr/>
        </p:nvSpPr>
        <p:spPr bwMode="auto">
          <a:xfrm>
            <a:off x="793821" y="1859585"/>
            <a:ext cx="1042014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cs typeface="Arial" panose="020B0604020202020204" pitchFamily="34" charset="0"/>
              </a:rPr>
              <a:t>Policies and procedures of data governance </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are the rules and guidelines that define how data is managed across an organization. They typically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Data access rules:</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Who can view, edit, or share specific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Data usage standards:</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How data should be collected, processed, and maintained.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Security policies:</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Measures to protect data from unauthorized access, breaches, or loss.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Compliance procedures:</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Ensuring all data handling follows legal and regulatory requirements.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These policies ensure consistency, security, and responsible use of data.</a:t>
            </a:r>
          </a:p>
        </p:txBody>
      </p:sp>
    </p:spTree>
    <p:extLst>
      <p:ext uri="{BB962C8B-B14F-4D97-AF65-F5344CB8AC3E}">
        <p14:creationId xmlns:p14="http://schemas.microsoft.com/office/powerpoint/2010/main" val="3317998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E34F1E-0EDC-69F6-B8A1-2B60EBA7B1C5}"/>
              </a:ext>
            </a:extLst>
          </p:cNvPr>
          <p:cNvSpPr txBox="1"/>
          <p:nvPr/>
        </p:nvSpPr>
        <p:spPr>
          <a:xfrm>
            <a:off x="831311" y="828680"/>
            <a:ext cx="6636774" cy="584775"/>
          </a:xfrm>
          <a:prstGeom prst="rect">
            <a:avLst/>
          </a:prstGeom>
          <a:noFill/>
        </p:spPr>
        <p:txBody>
          <a:bodyPr wrap="square" rtlCol="0">
            <a:spAutoFit/>
          </a:bodyPr>
          <a:lstStyle/>
          <a:p>
            <a:r>
              <a:rPr lang="en-US" sz="3200" dirty="0">
                <a:latin typeface="+mj-lt"/>
              </a:rPr>
              <a:t>ROLES AND RESPONSIBILITIES :</a:t>
            </a:r>
            <a:endParaRPr lang="en-IN" sz="3200" dirty="0">
              <a:latin typeface="+mj-lt"/>
            </a:endParaRPr>
          </a:p>
        </p:txBody>
      </p:sp>
      <p:sp>
        <p:nvSpPr>
          <p:cNvPr id="5" name="Rectangle 3">
            <a:extLst>
              <a:ext uri="{FF2B5EF4-FFF2-40B4-BE49-F238E27FC236}">
                <a16:creationId xmlns:a16="http://schemas.microsoft.com/office/drawing/2014/main" id="{2B551882-02CF-0675-42FA-D65220E7563C}"/>
              </a:ext>
            </a:extLst>
          </p:cNvPr>
          <p:cNvSpPr>
            <a:spLocks noChangeArrowheads="1"/>
          </p:cNvSpPr>
          <p:nvPr/>
        </p:nvSpPr>
        <p:spPr bwMode="auto">
          <a:xfrm>
            <a:off x="831311" y="1935892"/>
            <a:ext cx="10410092"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rPr>
              <a:t>Roles and responsibilities of data governance </a:t>
            </a:r>
            <a:r>
              <a:rPr kumimoji="0" lang="en-US" altLang="en-US" sz="2000" b="0" i="0" u="none" strike="noStrike" cap="none" normalizeH="0" baseline="0" dirty="0">
                <a:ln>
                  <a:noFill/>
                </a:ln>
                <a:effectLst/>
                <a:latin typeface="Arial" panose="020B0604020202020204" pitchFamily="34" charset="0"/>
              </a:rPr>
              <a:t>define who manages, monitors, and uses data within an organization. Key roles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Data Owners:</a:t>
            </a:r>
            <a:r>
              <a:rPr kumimoji="0" lang="en-US" altLang="en-US" sz="2000" b="0" i="0" u="none" strike="noStrike" cap="none" normalizeH="0" baseline="0" dirty="0">
                <a:ln>
                  <a:noFill/>
                </a:ln>
                <a:effectLst/>
                <a:latin typeface="Arial" panose="020B0604020202020204" pitchFamily="34" charset="0"/>
              </a:rPr>
              <a:t> Define data policies, ensure data aligns with business needs, and approve access rights.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Data Stewards:</a:t>
            </a:r>
            <a:r>
              <a:rPr kumimoji="0" lang="en-US" altLang="en-US" sz="2000" b="0" i="0" u="none" strike="noStrike" cap="none" normalizeH="0" baseline="0" dirty="0">
                <a:ln>
                  <a:noFill/>
                </a:ln>
                <a:effectLst/>
                <a:latin typeface="Arial" panose="020B0604020202020204" pitchFamily="34" charset="0"/>
              </a:rPr>
              <a:t> Maintain data quality, enforce standards, and manage day-to-day handling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Data Users:</a:t>
            </a:r>
            <a:r>
              <a:rPr kumimoji="0" lang="en-US" altLang="en-US" sz="2000" b="0" i="0" u="none" strike="noStrike" cap="none" normalizeH="0" baseline="0" dirty="0">
                <a:ln>
                  <a:noFill/>
                </a:ln>
                <a:effectLst/>
                <a:latin typeface="Arial" panose="020B0604020202020204" pitchFamily="34" charset="0"/>
              </a:rPr>
              <a:t> Access and use data responsibly for analysis, decision-making, and operations.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These roles ensure data is accurate, secure, and used effectively.</a:t>
            </a:r>
          </a:p>
        </p:txBody>
      </p:sp>
    </p:spTree>
    <p:extLst>
      <p:ext uri="{BB962C8B-B14F-4D97-AF65-F5344CB8AC3E}">
        <p14:creationId xmlns:p14="http://schemas.microsoft.com/office/powerpoint/2010/main" val="590656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E91842-1AA0-C679-EF93-602FB3839981}"/>
              </a:ext>
            </a:extLst>
          </p:cNvPr>
          <p:cNvSpPr txBox="1"/>
          <p:nvPr/>
        </p:nvSpPr>
        <p:spPr>
          <a:xfrm>
            <a:off x="550606" y="591457"/>
            <a:ext cx="5928852" cy="584775"/>
          </a:xfrm>
          <a:prstGeom prst="rect">
            <a:avLst/>
          </a:prstGeom>
          <a:noFill/>
        </p:spPr>
        <p:txBody>
          <a:bodyPr wrap="square" rtlCol="0">
            <a:spAutoFit/>
          </a:bodyPr>
          <a:lstStyle/>
          <a:p>
            <a:r>
              <a:rPr lang="en-US" sz="3200" dirty="0">
                <a:latin typeface="+mj-lt"/>
              </a:rPr>
              <a:t>PRINCIPLES OF DATA ETHICS</a:t>
            </a:r>
            <a:endParaRPr lang="en-IN" sz="3200" dirty="0">
              <a:latin typeface="+mj-lt"/>
            </a:endParaRPr>
          </a:p>
        </p:txBody>
      </p:sp>
      <p:sp>
        <p:nvSpPr>
          <p:cNvPr id="4" name="Rectangle 2">
            <a:extLst>
              <a:ext uri="{FF2B5EF4-FFF2-40B4-BE49-F238E27FC236}">
                <a16:creationId xmlns:a16="http://schemas.microsoft.com/office/drawing/2014/main" id="{DDF746C5-4300-F005-619E-7AE3FB71859B}"/>
              </a:ext>
            </a:extLst>
          </p:cNvPr>
          <p:cNvSpPr>
            <a:spLocks noChangeArrowheads="1"/>
          </p:cNvSpPr>
          <p:nvPr/>
        </p:nvSpPr>
        <p:spPr bwMode="auto">
          <a:xfrm>
            <a:off x="550606" y="1557562"/>
            <a:ext cx="1059917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rPr>
              <a:t>Principles of Data Ethics </a:t>
            </a:r>
            <a:r>
              <a:rPr kumimoji="0" lang="en-US" altLang="en-US" sz="2000" b="0" i="0" u="none" strike="noStrike" cap="none" normalizeH="0" baseline="0" dirty="0">
                <a:ln>
                  <a:noFill/>
                </a:ln>
                <a:effectLst/>
                <a:latin typeface="Arial" panose="020B0604020202020204" pitchFamily="34" charset="0"/>
              </a:rPr>
              <a:t>guide organizations to handle data responsibly and fairly. Key principles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Fair and ethical data use:</a:t>
            </a:r>
            <a:r>
              <a:rPr kumimoji="0" lang="en-US" altLang="en-US" sz="2000" b="0" i="0" u="none" strike="noStrike" cap="none" normalizeH="0" baseline="0" dirty="0">
                <a:ln>
                  <a:noFill/>
                </a:ln>
                <a:effectLst/>
                <a:latin typeface="Arial" panose="020B0604020202020204" pitchFamily="34" charset="0"/>
              </a:rPr>
              <a:t> Data should be collected and used without bias, discrimination, or harm.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Responsible data handling:</a:t>
            </a:r>
            <a:r>
              <a:rPr kumimoji="0" lang="en-US" altLang="en-US" sz="2000" b="0" i="0" u="none" strike="noStrike" cap="none" normalizeH="0" baseline="0" dirty="0">
                <a:ln>
                  <a:noFill/>
                </a:ln>
                <a:effectLst/>
                <a:latin typeface="Arial" panose="020B0604020202020204" pitchFamily="34" charset="0"/>
              </a:rPr>
              <a:t> Protect privacy, ensure accuracy, and be accountable for how data is managed.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Transparency:</a:t>
            </a:r>
            <a:r>
              <a:rPr kumimoji="0" lang="en-US" altLang="en-US" sz="2000" b="0" i="0" u="none" strike="noStrike" cap="none" normalizeH="0" baseline="0" dirty="0">
                <a:ln>
                  <a:noFill/>
                </a:ln>
                <a:effectLst/>
                <a:latin typeface="Arial" panose="020B0604020202020204" pitchFamily="34" charset="0"/>
              </a:rPr>
              <a:t> Clearly communicate how data is collected, used, and shared.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Accountability:</a:t>
            </a:r>
            <a:r>
              <a:rPr kumimoji="0" lang="en-US" altLang="en-US" sz="2000" b="0" i="0" u="none" strike="noStrike" cap="none" normalizeH="0" baseline="0" dirty="0">
                <a:ln>
                  <a:noFill/>
                </a:ln>
                <a:effectLst/>
                <a:latin typeface="Arial" panose="020B0604020202020204" pitchFamily="34" charset="0"/>
              </a:rPr>
              <a:t> Hold individuals and organizations responsible for misuse or unethical handling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These principles ensure trust, compliance, and ethical decision-making.</a:t>
            </a:r>
          </a:p>
        </p:txBody>
      </p:sp>
    </p:spTree>
    <p:extLst>
      <p:ext uri="{BB962C8B-B14F-4D97-AF65-F5344CB8AC3E}">
        <p14:creationId xmlns:p14="http://schemas.microsoft.com/office/powerpoint/2010/main" val="2886686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D2A25E-9C2A-871A-66EB-D73AD85091E5}"/>
              </a:ext>
            </a:extLst>
          </p:cNvPr>
          <p:cNvSpPr txBox="1"/>
          <p:nvPr/>
        </p:nvSpPr>
        <p:spPr>
          <a:xfrm>
            <a:off x="688258" y="861410"/>
            <a:ext cx="7177548" cy="584775"/>
          </a:xfrm>
          <a:prstGeom prst="rect">
            <a:avLst/>
          </a:prstGeom>
          <a:noFill/>
        </p:spPr>
        <p:txBody>
          <a:bodyPr wrap="square" rtlCol="0">
            <a:spAutoFit/>
          </a:bodyPr>
          <a:lstStyle/>
          <a:p>
            <a:r>
              <a:rPr lang="en-US" sz="3200" dirty="0">
                <a:latin typeface="+mj-lt"/>
              </a:rPr>
              <a:t>PRIVACY AND CONFIDENTIALITY</a:t>
            </a:r>
            <a:endParaRPr lang="en-IN" sz="3200" dirty="0">
              <a:latin typeface="+mj-lt"/>
            </a:endParaRPr>
          </a:p>
        </p:txBody>
      </p:sp>
      <p:sp>
        <p:nvSpPr>
          <p:cNvPr id="4" name="Rectangle 2">
            <a:extLst>
              <a:ext uri="{FF2B5EF4-FFF2-40B4-BE49-F238E27FC236}">
                <a16:creationId xmlns:a16="http://schemas.microsoft.com/office/drawing/2014/main" id="{7D56E633-53B1-6F39-FF80-88FB2E9E2325}"/>
              </a:ext>
            </a:extLst>
          </p:cNvPr>
          <p:cNvSpPr>
            <a:spLocks noChangeArrowheads="1"/>
          </p:cNvSpPr>
          <p:nvPr/>
        </p:nvSpPr>
        <p:spPr bwMode="auto">
          <a:xfrm>
            <a:off x="688258" y="1918550"/>
            <a:ext cx="1081548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rPr>
              <a:t>Privacy and Confidentiality in Data Ethics </a:t>
            </a:r>
            <a:r>
              <a:rPr kumimoji="0" lang="en-US" altLang="en-US" sz="2000" b="0" i="0" u="none" strike="noStrike" cap="none" normalizeH="0" baseline="0" dirty="0">
                <a:ln>
                  <a:noFill/>
                </a:ln>
                <a:effectLst/>
                <a:latin typeface="Arial" panose="020B0604020202020204" pitchFamily="34" charset="0"/>
              </a:rPr>
              <a:t>focus on protecting personal and sensitive information. Key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Protection of personal data:</a:t>
            </a:r>
            <a:r>
              <a:rPr kumimoji="0" lang="en-US" altLang="en-US" sz="2000" b="0" i="0" u="none" strike="noStrike" cap="none" normalizeH="0" baseline="0" dirty="0">
                <a:ln>
                  <a:noFill/>
                </a:ln>
                <a:effectLst/>
                <a:latin typeface="Arial" panose="020B0604020202020204" pitchFamily="34" charset="0"/>
              </a:rPr>
              <a:t> Safeguard individuals’ information from unauthorized access, misuse, or disclosure.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Secure storage and access:</a:t>
            </a:r>
            <a:r>
              <a:rPr kumimoji="0" lang="en-US" altLang="en-US" sz="2000" b="0" i="0" u="none" strike="noStrike" cap="none" normalizeH="0" baseline="0" dirty="0">
                <a:ln>
                  <a:noFill/>
                </a:ln>
                <a:effectLst/>
                <a:latin typeface="Arial" panose="020B0604020202020204" pitchFamily="34" charset="0"/>
              </a:rPr>
              <a:t> Ensure data is stored safely and only accessible to authorized personnel.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Respect for user rights:</a:t>
            </a:r>
            <a:r>
              <a:rPr kumimoji="0" lang="en-US" altLang="en-US" sz="2000" b="0" i="0" u="none" strike="noStrike" cap="none" normalizeH="0" baseline="0" dirty="0">
                <a:ln>
                  <a:noFill/>
                </a:ln>
                <a:effectLst/>
                <a:latin typeface="Arial" panose="020B0604020202020204" pitchFamily="34" charset="0"/>
              </a:rPr>
              <a:t> Handle data according to privacy laws and consent agreements.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These practices maintain trust and comply with legal and ethical standards.</a:t>
            </a:r>
          </a:p>
        </p:txBody>
      </p:sp>
    </p:spTree>
    <p:extLst>
      <p:ext uri="{BB962C8B-B14F-4D97-AF65-F5344CB8AC3E}">
        <p14:creationId xmlns:p14="http://schemas.microsoft.com/office/powerpoint/2010/main" val="2327906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AD3466-9934-7CF5-0331-33D7492FD12E}"/>
              </a:ext>
            </a:extLst>
          </p:cNvPr>
          <p:cNvSpPr txBox="1"/>
          <p:nvPr/>
        </p:nvSpPr>
        <p:spPr>
          <a:xfrm>
            <a:off x="727587" y="807097"/>
            <a:ext cx="8332839" cy="584775"/>
          </a:xfrm>
          <a:prstGeom prst="rect">
            <a:avLst/>
          </a:prstGeom>
          <a:noFill/>
        </p:spPr>
        <p:txBody>
          <a:bodyPr wrap="square" rtlCol="0">
            <a:spAutoFit/>
          </a:bodyPr>
          <a:lstStyle/>
          <a:p>
            <a:r>
              <a:rPr lang="en-US" sz="3200" dirty="0">
                <a:latin typeface="+mj-lt"/>
              </a:rPr>
              <a:t>TRANSPARENCY AND ACCOUNTABILITY</a:t>
            </a:r>
            <a:endParaRPr lang="en-IN" sz="3200" dirty="0">
              <a:latin typeface="+mj-lt"/>
            </a:endParaRPr>
          </a:p>
        </p:txBody>
      </p:sp>
      <p:sp>
        <p:nvSpPr>
          <p:cNvPr id="4" name="Rectangle 2">
            <a:extLst>
              <a:ext uri="{FF2B5EF4-FFF2-40B4-BE49-F238E27FC236}">
                <a16:creationId xmlns:a16="http://schemas.microsoft.com/office/drawing/2014/main" id="{F43E6C65-5A6D-1B71-28D9-57EEE37C2C72}"/>
              </a:ext>
            </a:extLst>
          </p:cNvPr>
          <p:cNvSpPr>
            <a:spLocks noChangeArrowheads="1"/>
          </p:cNvSpPr>
          <p:nvPr/>
        </p:nvSpPr>
        <p:spPr bwMode="auto">
          <a:xfrm>
            <a:off x="727587" y="1957475"/>
            <a:ext cx="1073682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effectLst/>
                <a:latin typeface="Arial" panose="020B0604020202020204" pitchFamily="34" charset="0"/>
              </a:rPr>
              <a:t>Transparency and Accountability in Data Ethics</a:t>
            </a:r>
            <a:r>
              <a:rPr kumimoji="0" lang="en-US" altLang="en-US" sz="2000" b="0" i="0" u="none" strike="noStrike" cap="none" normalizeH="0" baseline="0" dirty="0">
                <a:ln>
                  <a:noFill/>
                </a:ln>
                <a:effectLst/>
                <a:latin typeface="Arial" panose="020B0604020202020204" pitchFamily="34" charset="0"/>
              </a:rPr>
              <a:t> ensure that data is used openly and responsibly. Key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Clear data usage policies:</a:t>
            </a:r>
            <a:r>
              <a:rPr kumimoji="0" lang="en-US" altLang="en-US" sz="2000" b="0" i="0" u="none" strike="noStrike" cap="none" normalizeH="0" baseline="0" dirty="0">
                <a:ln>
                  <a:noFill/>
                </a:ln>
                <a:effectLst/>
                <a:latin typeface="Arial" panose="020B0604020202020204" pitchFamily="34" charset="0"/>
              </a:rPr>
              <a:t> Organizations should openly communicate how data is collected, stored, and used.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Accountability for misuse:</a:t>
            </a:r>
            <a:r>
              <a:rPr kumimoji="0" lang="en-US" altLang="en-US" sz="2000" b="0" i="0" u="none" strike="noStrike" cap="none" normalizeH="0" baseline="0" dirty="0">
                <a:ln>
                  <a:noFill/>
                </a:ln>
                <a:effectLst/>
                <a:latin typeface="Arial" panose="020B0604020202020204" pitchFamily="34" charset="0"/>
              </a:rPr>
              <a:t> Individuals or teams are held responsible for improper handling, breaches, or unethical use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Openness in decision-making:</a:t>
            </a:r>
            <a:r>
              <a:rPr kumimoji="0" lang="en-US" altLang="en-US" sz="2000" b="0" i="0" u="none" strike="noStrike" cap="none" normalizeH="0" baseline="0" dirty="0">
                <a:ln>
                  <a:noFill/>
                </a:ln>
                <a:effectLst/>
                <a:latin typeface="Arial" panose="020B0604020202020204" pitchFamily="34" charset="0"/>
              </a:rPr>
              <a:t> Stakeholders should understand how data informs business decisions.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rPr>
              <a:t>These principles build trust and promote ethical, responsible data practices.</a:t>
            </a:r>
          </a:p>
        </p:txBody>
      </p:sp>
    </p:spTree>
    <p:extLst>
      <p:ext uri="{BB962C8B-B14F-4D97-AF65-F5344CB8AC3E}">
        <p14:creationId xmlns:p14="http://schemas.microsoft.com/office/powerpoint/2010/main" val="2148764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D7FA49-1C37-FD63-68C2-CB3854AA823D}"/>
              </a:ext>
            </a:extLst>
          </p:cNvPr>
          <p:cNvSpPr>
            <a:spLocks noChangeArrowheads="1"/>
          </p:cNvSpPr>
          <p:nvPr/>
        </p:nvSpPr>
        <p:spPr bwMode="auto">
          <a:xfrm>
            <a:off x="602226" y="2312472"/>
            <a:ext cx="109875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GDPR:</a:t>
            </a:r>
            <a:r>
              <a:rPr kumimoji="0" lang="en-US" altLang="en-US" sz="2000" b="0" i="0" u="none" strike="noStrike" cap="none" normalizeH="0" baseline="0" dirty="0">
                <a:ln>
                  <a:noFill/>
                </a:ln>
                <a:effectLst/>
                <a:latin typeface="Arial" panose="020B0604020202020204" pitchFamily="34" charset="0"/>
              </a:rPr>
              <a:t> A European regulation that protects individuals’ personal data and privacy, requiring organizations to handle data responsibly.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CCPA:</a:t>
            </a:r>
            <a:r>
              <a:rPr kumimoji="0" lang="en-US" altLang="en-US" sz="2000" b="0" i="0" u="none" strike="noStrike" cap="none" normalizeH="0" baseline="0" dirty="0">
                <a:ln>
                  <a:noFill/>
                </a:ln>
                <a:effectLst/>
                <a:latin typeface="Arial" panose="020B0604020202020204" pitchFamily="34" charset="0"/>
              </a:rPr>
              <a:t> A California law giving consumers rights over their personal data, including access, deletion, and opt-out of sales.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latin typeface="Arial" panose="020B0604020202020204" pitchFamily="34" charset="0"/>
              </a:rPr>
              <a:t>Other data protection laws:</a:t>
            </a:r>
            <a:r>
              <a:rPr kumimoji="0" lang="en-US" altLang="en-US" sz="2000" b="0" i="0" u="none" strike="noStrike" cap="none" normalizeH="0" baseline="0" dirty="0">
                <a:ln>
                  <a:noFill/>
                </a:ln>
                <a:effectLst/>
                <a:latin typeface="Arial" panose="020B0604020202020204" pitchFamily="34" charset="0"/>
              </a:rPr>
              <a:t> Various regional and industry-specific regulations ensure organizations manage data securely and ethically.</a:t>
            </a:r>
          </a:p>
        </p:txBody>
      </p:sp>
      <p:sp>
        <p:nvSpPr>
          <p:cNvPr id="3" name="TextBox 2">
            <a:extLst>
              <a:ext uri="{FF2B5EF4-FFF2-40B4-BE49-F238E27FC236}">
                <a16:creationId xmlns:a16="http://schemas.microsoft.com/office/drawing/2014/main" id="{A2240F30-4928-1700-DD8A-84665437AD04}"/>
              </a:ext>
            </a:extLst>
          </p:cNvPr>
          <p:cNvSpPr txBox="1"/>
          <p:nvPr/>
        </p:nvSpPr>
        <p:spPr>
          <a:xfrm>
            <a:off x="602226" y="1223871"/>
            <a:ext cx="6430296" cy="584775"/>
          </a:xfrm>
          <a:prstGeom prst="rect">
            <a:avLst/>
          </a:prstGeom>
          <a:noFill/>
        </p:spPr>
        <p:txBody>
          <a:bodyPr wrap="square" rtlCol="0">
            <a:spAutoFit/>
          </a:bodyPr>
          <a:lstStyle/>
          <a:p>
            <a:r>
              <a:rPr lang="en-US" sz="3200" dirty="0">
                <a:latin typeface="+mj-lt"/>
              </a:rPr>
              <a:t>REGULATORY COMPLIANCE</a:t>
            </a:r>
            <a:endParaRPr lang="en-IN" sz="3200" dirty="0">
              <a:latin typeface="+mj-lt"/>
            </a:endParaRPr>
          </a:p>
        </p:txBody>
      </p:sp>
    </p:spTree>
    <p:extLst>
      <p:ext uri="{BB962C8B-B14F-4D97-AF65-F5344CB8AC3E}">
        <p14:creationId xmlns:p14="http://schemas.microsoft.com/office/powerpoint/2010/main" val="1575274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30F63-C20D-4FD5-0EA9-8A870F9B4136}"/>
              </a:ext>
            </a:extLst>
          </p:cNvPr>
          <p:cNvSpPr>
            <a:spLocks noChangeArrowheads="1"/>
          </p:cNvSpPr>
          <p:nvPr/>
        </p:nvSpPr>
        <p:spPr bwMode="auto">
          <a:xfrm>
            <a:off x="796413" y="2234577"/>
            <a:ext cx="106188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Ethical awareness:</a:t>
            </a:r>
            <a:r>
              <a:rPr kumimoji="0" lang="en-US" altLang="en-US" sz="2400" b="0" i="0" u="none" strike="noStrike" cap="none" normalizeH="0" baseline="0" dirty="0">
                <a:ln>
                  <a:noFill/>
                </a:ln>
                <a:effectLst/>
                <a:latin typeface="Arial" panose="020B0604020202020204" pitchFamily="34" charset="0"/>
              </a:rPr>
              <a:t> Encourage employees to understand the importance of using data responsibly and fairly.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Training and compliance:</a:t>
            </a:r>
            <a:r>
              <a:rPr kumimoji="0" lang="en-US" altLang="en-US" sz="2400" b="0" i="0" u="none" strike="noStrike" cap="none" normalizeH="0" baseline="0" dirty="0">
                <a:ln>
                  <a:noFill/>
                </a:ln>
                <a:effectLst/>
                <a:latin typeface="Arial" panose="020B0604020202020204" pitchFamily="34" charset="0"/>
              </a:rPr>
              <a:t> Provide regular education on data policies, privacy rules, and best practices.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Continuous monitoring:</a:t>
            </a:r>
            <a:r>
              <a:rPr kumimoji="0" lang="en-US" altLang="en-US" sz="2400" b="0" i="0" u="none" strike="noStrike" cap="none" normalizeH="0" baseline="0" dirty="0">
                <a:ln>
                  <a:noFill/>
                </a:ln>
                <a:effectLst/>
                <a:latin typeface="Arial" panose="020B0604020202020204" pitchFamily="34" charset="0"/>
              </a:rPr>
              <a:t> Regularly track data usage to ensure adherence to ethical standards and prevent misuse.</a:t>
            </a:r>
          </a:p>
        </p:txBody>
      </p:sp>
      <p:sp>
        <p:nvSpPr>
          <p:cNvPr id="3" name="TextBox 2">
            <a:extLst>
              <a:ext uri="{FF2B5EF4-FFF2-40B4-BE49-F238E27FC236}">
                <a16:creationId xmlns:a16="http://schemas.microsoft.com/office/drawing/2014/main" id="{7C1849A7-4880-067A-4343-5339FBC9C737}"/>
              </a:ext>
            </a:extLst>
          </p:cNvPr>
          <p:cNvSpPr txBox="1"/>
          <p:nvPr/>
        </p:nvSpPr>
        <p:spPr>
          <a:xfrm>
            <a:off x="796413" y="1191714"/>
            <a:ext cx="10235381" cy="584775"/>
          </a:xfrm>
          <a:prstGeom prst="rect">
            <a:avLst/>
          </a:prstGeom>
          <a:noFill/>
        </p:spPr>
        <p:txBody>
          <a:bodyPr wrap="square" rtlCol="0">
            <a:spAutoFit/>
          </a:bodyPr>
          <a:lstStyle/>
          <a:p>
            <a:r>
              <a:rPr lang="en-US" sz="3200" dirty="0">
                <a:latin typeface="+mj-lt"/>
              </a:rPr>
              <a:t>BUILDING A CULTURE OF RESPONSIBILITY DATA USE</a:t>
            </a:r>
            <a:endParaRPr lang="en-IN" sz="3200" dirty="0">
              <a:latin typeface="+mj-lt"/>
            </a:endParaRPr>
          </a:p>
        </p:txBody>
      </p:sp>
    </p:spTree>
    <p:extLst>
      <p:ext uri="{BB962C8B-B14F-4D97-AF65-F5344CB8AC3E}">
        <p14:creationId xmlns:p14="http://schemas.microsoft.com/office/powerpoint/2010/main" val="468181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B717BA-BE20-9B24-E67B-7066B58339C6}"/>
              </a:ext>
            </a:extLst>
          </p:cNvPr>
          <p:cNvSpPr txBox="1"/>
          <p:nvPr/>
        </p:nvSpPr>
        <p:spPr>
          <a:xfrm>
            <a:off x="2128684" y="2444133"/>
            <a:ext cx="7934632" cy="2677656"/>
          </a:xfrm>
          <a:prstGeom prst="rect">
            <a:avLst/>
          </a:prstGeom>
          <a:noFill/>
        </p:spPr>
        <p:txBody>
          <a:bodyPr wrap="square">
            <a:spAutoFit/>
          </a:bodyPr>
          <a:lstStyle/>
          <a:p>
            <a:pPr>
              <a:buNone/>
            </a:pPr>
            <a:r>
              <a:rPr lang="en-US" sz="2800" dirty="0"/>
              <a:t>Information technology and data are essential for modern businesses, enabling efficiency, innovation, and informed decision-making. Adopting data-driven strategies while maintaining ethical and responsible practices ensures sustainable growth and long-term success.</a:t>
            </a:r>
          </a:p>
        </p:txBody>
      </p:sp>
      <p:sp>
        <p:nvSpPr>
          <p:cNvPr id="5" name="TextBox 4">
            <a:extLst>
              <a:ext uri="{FF2B5EF4-FFF2-40B4-BE49-F238E27FC236}">
                <a16:creationId xmlns:a16="http://schemas.microsoft.com/office/drawing/2014/main" id="{89A90679-621F-A397-F2C1-C7443CE0BA63}"/>
              </a:ext>
            </a:extLst>
          </p:cNvPr>
          <p:cNvSpPr txBox="1"/>
          <p:nvPr/>
        </p:nvSpPr>
        <p:spPr>
          <a:xfrm>
            <a:off x="3842795" y="928903"/>
            <a:ext cx="3740334" cy="646331"/>
          </a:xfrm>
          <a:prstGeom prst="rect">
            <a:avLst/>
          </a:prstGeom>
          <a:noFill/>
        </p:spPr>
        <p:txBody>
          <a:bodyPr wrap="square" rtlCol="0">
            <a:spAutoFit/>
          </a:bodyPr>
          <a:lstStyle/>
          <a:p>
            <a:r>
              <a:rPr lang="en-US" sz="3600" dirty="0">
                <a:latin typeface="+mj-lt"/>
              </a:rPr>
              <a:t>CONCLUSION</a:t>
            </a:r>
            <a:endParaRPr lang="en-IN" sz="3600" dirty="0">
              <a:latin typeface="+mj-lt"/>
            </a:endParaRPr>
          </a:p>
        </p:txBody>
      </p:sp>
    </p:spTree>
    <p:extLst>
      <p:ext uri="{BB962C8B-B14F-4D97-AF65-F5344CB8AC3E}">
        <p14:creationId xmlns:p14="http://schemas.microsoft.com/office/powerpoint/2010/main" val="328408446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833</TotalTime>
  <Words>2654</Words>
  <Application>Microsoft Office PowerPoint</Application>
  <PresentationFormat>Widescreen</PresentationFormat>
  <Paragraphs>275</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Arial Black</vt:lpstr>
      <vt:lpstr>Arial Unicode MS</vt:lpstr>
      <vt:lpstr>Gill Sans MT</vt:lpstr>
      <vt:lpstr>Gallery</vt:lpstr>
      <vt:lpstr>INFORMATION TECHNOLOGY</vt:lpstr>
      <vt:lpstr>What is Information Technology ?</vt:lpstr>
      <vt:lpstr>Role of IT in Business Operations</vt:lpstr>
      <vt:lpstr>Overview of Business Systems</vt:lpstr>
      <vt:lpstr>Interplay Between IT and Business Strategy</vt:lpstr>
      <vt:lpstr>Key Roles of IT in modern business</vt:lpstr>
      <vt:lpstr>Emerging IT Technologies</vt:lpstr>
      <vt:lpstr>Applications of IT in Business</vt:lpstr>
      <vt:lpstr>IT in Education and Society</vt:lpstr>
      <vt:lpstr>Enterprise Resource Planning</vt:lpstr>
      <vt:lpstr>Key Features of ERP Systems</vt:lpstr>
      <vt:lpstr>Benefits of ERP</vt:lpstr>
      <vt:lpstr>Popular ERP Software</vt:lpstr>
      <vt:lpstr>How ERP Platforms Work</vt:lpstr>
      <vt:lpstr>Types of ERP</vt:lpstr>
      <vt:lpstr>Benefits of ERP</vt:lpstr>
      <vt:lpstr>Introduction to Data Lifecycle Management(DLM)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Moumita Akhuli</dc:creator>
  <cp:lastModifiedBy>Anjali Prasad</cp:lastModifiedBy>
  <cp:revision>16</cp:revision>
  <dcterms:created xsi:type="dcterms:W3CDTF">2026-01-09T18:45:35Z</dcterms:created>
  <dcterms:modified xsi:type="dcterms:W3CDTF">2026-01-14T16:54:57Z</dcterms:modified>
</cp:coreProperties>
</file>